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1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194560"/>
            <a:ext cx="6400800" cy="6400800"/>
          </a:xfrm>
          <a:prstGeom prst="ellipse">
            <a:avLst/>
          </a:prstGeom>
          <a:solidFill>
            <a:srgbClr val="2B2519"/>
          </a:solidFill>
          <a:ln/>
        </p:spPr>
      </p:sp>
      <p:pic>
        <p:nvPicPr>
          <p:cNvPr id="3" name="Image 0" descr="/tmp/claude-0/-home-user-Ein-Prat-work/bfe443db-e493-5438-add8-ac2e37bc83f4/scratchpad/pptx-build/logo-go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27168" y="685800"/>
            <a:ext cx="1737360" cy="17373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697480"/>
            <a:ext cx="103628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C9A9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בניית משמר</a:t>
            </a:r>
            <a:endParaRPr lang="en-US" sz="5400" dirty="0"/>
          </a:p>
        </p:txBody>
      </p:sp>
      <p:sp>
        <p:nvSpPr>
          <p:cNvPr id="5" name="Text 2"/>
          <p:cNvSpPr/>
          <p:nvPr/>
        </p:nvSpPr>
        <p:spPr>
          <a:xfrm>
            <a:off x="914400" y="3611880"/>
            <a:ext cx="103628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2EA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מדריך פתיחה לצוותי המשמרים · תשפ״ז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914400" y="60350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C91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מדרשת עין פרת — האקדמיה למנהיגות חברתית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100" kern="0" dirty="0">
                <a:solidFill>
                  <a:srgbClr val="9C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סדר היום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200" b="1" dirty="0">
                <a:solidFill>
                  <a:srgbClr val="3E3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מה נעבור היום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11021263" y="2098548"/>
            <a:ext cx="512064" cy="512064"/>
          </a:xfrm>
          <a:prstGeom prst="ellipse">
            <a:avLst/>
          </a:prstGeom>
          <a:solidFill>
            <a:srgbClr val="C9A961"/>
          </a:solidFill>
          <a:ln/>
        </p:spPr>
      </p:sp>
      <p:pic>
        <p:nvPicPr>
          <p:cNvPr id="5" name="Image 0" descr="/tmp/claude-0/-home-user-Ein-Prat-work/bfe443db-e493-5438-add8-ac2e37bc83f4/scratchpad/pptx-build/icons/mo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4159" y="2221443"/>
            <a:ext cx="266273" cy="26627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347308" y="1874520"/>
            <a:ext cx="456422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זה משמר — ולמה הוא בנוי ככה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11021263" y="3150108"/>
            <a:ext cx="512064" cy="512064"/>
          </a:xfrm>
          <a:prstGeom prst="ellipse">
            <a:avLst/>
          </a:prstGeom>
          <a:solidFill>
            <a:srgbClr val="C9A961"/>
          </a:solidFill>
          <a:ln/>
        </p:spPr>
      </p:sp>
      <p:pic>
        <p:nvPicPr>
          <p:cNvPr id="8" name="Image 1" descr="/tmp/claude-0/-home-user-Ein-Prat-work/bfe443db-e493-5438-add8-ac2e37bc83f4/scratchpad/pptx-build/icons/lay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44159" y="3273003"/>
            <a:ext cx="266273" cy="266273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347308" y="2926080"/>
            <a:ext cx="456422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איך משמר נבנה בפועל — וזה גמיש</a:t>
            </a:r>
            <a:endParaRPr lang="en-US" sz="1700" dirty="0"/>
          </a:p>
        </p:txBody>
      </p:sp>
      <p:sp>
        <p:nvSpPr>
          <p:cNvPr id="10" name="Shape 6"/>
          <p:cNvSpPr/>
          <p:nvPr/>
        </p:nvSpPr>
        <p:spPr>
          <a:xfrm>
            <a:off x="11021263" y="4201668"/>
            <a:ext cx="512064" cy="512064"/>
          </a:xfrm>
          <a:prstGeom prst="ellipse">
            <a:avLst/>
          </a:prstGeom>
          <a:solidFill>
            <a:srgbClr val="C9A961"/>
          </a:solidFill>
          <a:ln/>
        </p:spPr>
      </p:sp>
      <p:pic>
        <p:nvPicPr>
          <p:cNvPr id="11" name="Image 2" descr="/tmp/claude-0/-home-user-Ein-Prat-work/bfe443db-e493-5438-add8-ac2e37bc83f4/scratchpad/pptx-build/icons/glob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44159" y="4324563"/>
            <a:ext cx="266273" cy="266273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6347308" y="3977640"/>
            <a:ext cx="456422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משמר פנימי מול משמר חיצוני</a:t>
            </a:r>
            <a:endParaRPr lang="en-US" sz="1700" dirty="0"/>
          </a:p>
        </p:txBody>
      </p:sp>
      <p:sp>
        <p:nvSpPr>
          <p:cNvPr id="13" name="Shape 8"/>
          <p:cNvSpPr/>
          <p:nvPr/>
        </p:nvSpPr>
        <p:spPr>
          <a:xfrm>
            <a:off x="11021263" y="5253228"/>
            <a:ext cx="512064" cy="512064"/>
          </a:xfrm>
          <a:prstGeom prst="ellipse">
            <a:avLst/>
          </a:prstGeom>
          <a:solidFill>
            <a:srgbClr val="C9A961"/>
          </a:solidFill>
          <a:ln/>
        </p:spPr>
      </p:sp>
      <p:pic>
        <p:nvPicPr>
          <p:cNvPr id="14" name="Image 3" descr="/tmp/claude-0/-home-user-Ein-Prat-work/bfe443db-e493-5438-add8-ac2e37bc83f4/scratchpad/pptx-build/icons/user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44159" y="5376123"/>
            <a:ext cx="266273" cy="266273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6347308" y="5029200"/>
            <a:ext cx="456422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השיבוץ שלכם ל-21 המשמרים של השנה</a:t>
            </a:r>
            <a:endParaRPr lang="en-US" sz="1700" dirty="0"/>
          </a:p>
        </p:txBody>
      </p:sp>
      <p:sp>
        <p:nvSpPr>
          <p:cNvPr id="16" name="Shape 10"/>
          <p:cNvSpPr/>
          <p:nvPr/>
        </p:nvSpPr>
        <p:spPr>
          <a:xfrm>
            <a:off x="5314036" y="2098548"/>
            <a:ext cx="512064" cy="512064"/>
          </a:xfrm>
          <a:prstGeom prst="ellipse">
            <a:avLst/>
          </a:prstGeom>
          <a:solidFill>
            <a:srgbClr val="C9A961"/>
          </a:solidFill>
          <a:ln/>
        </p:spPr>
      </p:sp>
      <p:pic>
        <p:nvPicPr>
          <p:cNvPr id="17" name="Image 4" descr="/tmp/claude-0/-home-user-Ein-Prat-work/bfe443db-e493-5438-add8-ac2e37bc83f4/scratchpad/pptx-build/icons/fileTex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36931" y="2221443"/>
            <a:ext cx="266273" cy="266273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640080" y="1874520"/>
            <a:ext cx="456422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קובץ העבודה — איך מתעדים הכל</a:t>
            </a:r>
            <a:endParaRPr lang="en-US" sz="1700" dirty="0"/>
          </a:p>
        </p:txBody>
      </p:sp>
      <p:sp>
        <p:nvSpPr>
          <p:cNvPr id="19" name="Shape 12"/>
          <p:cNvSpPr/>
          <p:nvPr/>
        </p:nvSpPr>
        <p:spPr>
          <a:xfrm>
            <a:off x="5314036" y="3150108"/>
            <a:ext cx="512064" cy="512064"/>
          </a:xfrm>
          <a:prstGeom prst="ellipse">
            <a:avLst/>
          </a:prstGeom>
          <a:solidFill>
            <a:srgbClr val="C9A961"/>
          </a:solidFill>
          <a:ln/>
        </p:spPr>
      </p:sp>
      <p:pic>
        <p:nvPicPr>
          <p:cNvPr id="20" name="Image 5" descr="/tmp/claude-0/-home-user-Ein-Prat-work/bfe443db-e493-5438-add8-ac2e37bc83f4/scratchpad/pptx-build/icons/cupcak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36931" y="3273003"/>
            <a:ext cx="266273" cy="266273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640080" y="2926080"/>
            <a:ext cx="456422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קישוט, כיבוד וכל הפרטים הקטנים</a:t>
            </a:r>
            <a:endParaRPr lang="en-US" sz="1700" dirty="0"/>
          </a:p>
        </p:txBody>
      </p:sp>
      <p:sp>
        <p:nvSpPr>
          <p:cNvPr id="22" name="Shape 14"/>
          <p:cNvSpPr/>
          <p:nvPr/>
        </p:nvSpPr>
        <p:spPr>
          <a:xfrm>
            <a:off x="5314036" y="4201668"/>
            <a:ext cx="512064" cy="512064"/>
          </a:xfrm>
          <a:prstGeom prst="ellipse">
            <a:avLst/>
          </a:prstGeom>
          <a:solidFill>
            <a:srgbClr val="C9A961"/>
          </a:solidFill>
          <a:ln/>
        </p:spPr>
      </p:sp>
      <p:pic>
        <p:nvPicPr>
          <p:cNvPr id="23" name="Image 6" descr="/tmp/claude-0/-home-user-Ein-Prat-work/bfe443db-e493-5438-add8-ac2e37bc83f4/scratchpad/pptx-build/icons/calendar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36931" y="4324563"/>
            <a:ext cx="266273" cy="266273"/>
          </a:xfrm>
          <a:prstGeom prst="rect">
            <a:avLst/>
          </a:prstGeom>
        </p:spPr>
      </p:pic>
      <p:sp>
        <p:nvSpPr>
          <p:cNvPr id="24" name="Text 15"/>
          <p:cNvSpPr/>
          <p:nvPr/>
        </p:nvSpPr>
        <p:spPr>
          <a:xfrm>
            <a:off x="640080" y="3977640"/>
            <a:ext cx="456422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לוח זמנים ומה קורה עכשיו</a:t>
            </a:r>
            <a:endParaRPr lang="en-US" sz="1700" dirty="0"/>
          </a:p>
        </p:txBody>
      </p:sp>
      <p:sp>
        <p:nvSpPr>
          <p:cNvPr id="25" name="Text 16"/>
          <p:cNvSpPr/>
          <p:nvPr/>
        </p:nvSpPr>
        <p:spPr>
          <a:xfrm>
            <a:off x="640080" y="64008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בניית משמר · תשפ״ז</a:t>
            </a:r>
            <a:endParaRPr lang="en-US" sz="1000" dirty="0"/>
          </a:p>
        </p:txBody>
      </p:sp>
      <p:sp>
        <p:nvSpPr>
          <p:cNvPr id="26" name="Text 17"/>
          <p:cNvSpPr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100" kern="0" dirty="0">
                <a:solidFill>
                  <a:srgbClr val="9C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המהות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200" b="1" dirty="0">
                <a:solidFill>
                  <a:srgbClr val="3E3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מה זה משמר?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278728" y="1874520"/>
            <a:ext cx="5272888" cy="1965960"/>
          </a:xfrm>
          <a:prstGeom prst="roundRect">
            <a:avLst>
              <a:gd name="adj" fmla="val 3721"/>
            </a:avLst>
          </a:prstGeom>
          <a:solidFill>
            <a:srgbClr val="F5F1E6"/>
          </a:solidFill>
          <a:ln w="12700">
            <a:solidFill>
              <a:srgbClr val="E4DDC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477195" y="2125980"/>
            <a:ext cx="777240" cy="777240"/>
          </a:xfrm>
          <a:prstGeom prst="ellipse">
            <a:avLst/>
          </a:prstGeom>
          <a:solidFill>
            <a:srgbClr val="C9A961"/>
          </a:solidFill>
          <a:ln/>
        </p:spPr>
      </p:sp>
      <p:pic>
        <p:nvPicPr>
          <p:cNvPr id="6" name="Image 0" descr="/tmp/claude-0/-home-user-Ein-Prat-work/bfe443db-e493-5438-add8-ac2e37bc83f4/scratchpad/pptx-build/icons/lay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63733" y="2312518"/>
            <a:ext cx="404165" cy="40416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553048" y="2130552"/>
            <a:ext cx="40384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3E3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לילה של העמקה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6553048" y="2834640"/>
            <a:ext cx="47242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עוד שיעור — צלילה שלמה לתוך נושא אחד, הרבה מעבר למה שנלמד ביום-יום.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640080" y="1874520"/>
            <a:ext cx="5272888" cy="1965960"/>
          </a:xfrm>
          <a:prstGeom prst="roundRect">
            <a:avLst>
              <a:gd name="adj" fmla="val 3721"/>
            </a:avLst>
          </a:prstGeom>
          <a:solidFill>
            <a:srgbClr val="F5F1E6"/>
          </a:solidFill>
          <a:ln w="12700">
            <a:solidFill>
              <a:srgbClr val="E4DDC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838548" y="2125980"/>
            <a:ext cx="777240" cy="777240"/>
          </a:xfrm>
          <a:prstGeom prst="ellipse">
            <a:avLst/>
          </a:prstGeom>
          <a:solidFill>
            <a:srgbClr val="3F6480"/>
          </a:solidFill>
          <a:ln/>
        </p:spPr>
      </p:sp>
      <p:pic>
        <p:nvPicPr>
          <p:cNvPr id="11" name="Image 1" descr="/tmp/claude-0/-home-user-Ein-Prat-work/bfe443db-e493-5438-add8-ac2e37bc83f4/scratchpad/pptx-build/icons/bookOp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5085" y="2312518"/>
            <a:ext cx="404165" cy="404165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914400" y="2130552"/>
            <a:ext cx="40384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3E3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עומק חדש בתכנים מוכרים</a:t>
            </a:r>
            <a:endParaRPr lang="en-US" sz="1800" dirty="0"/>
          </a:p>
        </p:txBody>
      </p:sp>
      <p:sp>
        <p:nvSpPr>
          <p:cNvPr id="13" name="Text 9"/>
          <p:cNvSpPr/>
          <p:nvPr/>
        </p:nvSpPr>
        <p:spPr>
          <a:xfrm>
            <a:off x="914400" y="2834640"/>
            <a:ext cx="47242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הזדמנות לחזור אל מה שכבר נלמד בשיעורים הרגילים, ולגלות בו רבדים שלא נחשפו שם.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78728" y="4160520"/>
            <a:ext cx="5272888" cy="1965960"/>
          </a:xfrm>
          <a:prstGeom prst="roundRect">
            <a:avLst>
              <a:gd name="adj" fmla="val 3721"/>
            </a:avLst>
          </a:prstGeom>
          <a:solidFill>
            <a:srgbClr val="F5F1E6"/>
          </a:solidFill>
          <a:ln w="12700">
            <a:solidFill>
              <a:srgbClr val="E4DDC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10477195" y="4411980"/>
            <a:ext cx="777240" cy="777240"/>
          </a:xfrm>
          <a:prstGeom prst="ellipse">
            <a:avLst/>
          </a:prstGeom>
          <a:solidFill>
            <a:srgbClr val="5E7B47"/>
          </a:solidFill>
          <a:ln/>
        </p:spPr>
      </p:sp>
      <p:pic>
        <p:nvPicPr>
          <p:cNvPr id="16" name="Image 2" descr="/tmp/claude-0/-home-user-Ein-Prat-work/bfe443db-e493-5438-add8-ac2e37bc83f4/scratchpad/pptx-build/icons/edi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3733" y="4598518"/>
            <a:ext cx="404165" cy="404165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553048" y="4416552"/>
            <a:ext cx="40384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3E3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כולו בידיים שלכם</a:t>
            </a:r>
            <a:endParaRPr lang="en-US" sz="1800" dirty="0"/>
          </a:p>
        </p:txBody>
      </p:sp>
      <p:sp>
        <p:nvSpPr>
          <p:cNvPr id="18" name="Text 13"/>
          <p:cNvSpPr/>
          <p:nvPr/>
        </p:nvSpPr>
        <p:spPr>
          <a:xfrm>
            <a:off x="6553048" y="5120640"/>
            <a:ext cx="47242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מהרעיון ועד לרגע האחרון בלילה — הבנייה של המשמר היא באחריותכם המלאה.</a:t>
            </a:r>
            <a:endParaRPr lang="en-US" sz="1350" dirty="0"/>
          </a:p>
        </p:txBody>
      </p:sp>
      <p:sp>
        <p:nvSpPr>
          <p:cNvPr id="19" name="Shape 14"/>
          <p:cNvSpPr/>
          <p:nvPr/>
        </p:nvSpPr>
        <p:spPr>
          <a:xfrm>
            <a:off x="640080" y="4160520"/>
            <a:ext cx="5272888" cy="1965960"/>
          </a:xfrm>
          <a:prstGeom prst="roundRect">
            <a:avLst>
              <a:gd name="adj" fmla="val 3721"/>
            </a:avLst>
          </a:prstGeom>
          <a:solidFill>
            <a:srgbClr val="F5F1E6"/>
          </a:solidFill>
          <a:ln w="12700">
            <a:solidFill>
              <a:srgbClr val="E4DDC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4838548" y="4411980"/>
            <a:ext cx="777240" cy="777240"/>
          </a:xfrm>
          <a:prstGeom prst="ellipse">
            <a:avLst/>
          </a:prstGeom>
          <a:solidFill>
            <a:srgbClr val="9C7B34"/>
          </a:solidFill>
          <a:ln/>
        </p:spPr>
      </p:sp>
      <p:pic>
        <p:nvPicPr>
          <p:cNvPr id="21" name="Image 3" descr="/tmp/claude-0/-home-user-Ein-Prat-work/bfe443db-e493-5438-add8-ac2e37bc83f4/scratchpad/pptx-build/icons/awar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5085" y="4598518"/>
            <a:ext cx="404165" cy="404165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914400" y="4416552"/>
            <a:ext cx="40384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3E3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הזדמנות אמיתית להשפיע</a:t>
            </a:r>
            <a:endParaRPr lang="en-US" sz="1800" dirty="0"/>
          </a:p>
        </p:txBody>
      </p:sp>
      <p:sp>
        <p:nvSpPr>
          <p:cNvPr id="23" name="Text 17"/>
          <p:cNvSpPr/>
          <p:nvPr/>
        </p:nvSpPr>
        <p:spPr>
          <a:xfrm>
            <a:off x="914400" y="5120640"/>
            <a:ext cx="47242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משמר טוב לא רק מעשיר את מי שנמצא בו — הוא מעלה את רמת הלמידה של המדרשה כולה.</a:t>
            </a:r>
            <a:endParaRPr lang="en-US" sz="1350" dirty="0"/>
          </a:p>
        </p:txBody>
      </p:sp>
      <p:sp>
        <p:nvSpPr>
          <p:cNvPr id="24" name="Text 18"/>
          <p:cNvSpPr/>
          <p:nvPr/>
        </p:nvSpPr>
        <p:spPr>
          <a:xfrm>
            <a:off x="640080" y="64008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בניית משמר · תשפ״ז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100" kern="0" dirty="0">
                <a:solidFill>
                  <a:srgbClr val="9C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מסגרת השראה — לא נוסחה נוקשה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200" b="1" dirty="0">
                <a:solidFill>
                  <a:srgbClr val="3E3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מלוגוס לפאתוס: קשת האנרגיה של הלילה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278728" y="1828800"/>
            <a:ext cx="5272888" cy="2011680"/>
          </a:xfrm>
          <a:prstGeom prst="roundRect">
            <a:avLst>
              <a:gd name="adj" fmla="val 3636"/>
            </a:avLst>
          </a:prstGeom>
          <a:solidFill>
            <a:srgbClr val="DEE9EF"/>
          </a:solidFill>
          <a:ln w="12700">
            <a:solidFill>
              <a:srgbClr val="3F648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655503" y="2066544"/>
            <a:ext cx="658368" cy="658368"/>
          </a:xfrm>
          <a:prstGeom prst="ellipse">
            <a:avLst/>
          </a:prstGeom>
          <a:solidFill>
            <a:srgbClr val="3F6480"/>
          </a:solidFill>
          <a:ln/>
        </p:spPr>
      </p:sp>
      <p:pic>
        <p:nvPicPr>
          <p:cNvPr id="6" name="Image 0" descr="/tmp/claude-0/-home-user-Ein-Prat-work/bfe443db-e493-5438-add8-ac2e37bc83f4/scratchpad/pptx-build/icons/bookOp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13512" y="2224552"/>
            <a:ext cx="342351" cy="34235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15888" y="19385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F64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553048" y="2029968"/>
            <a:ext cx="4221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3E3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היסודות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6553048" y="2542032"/>
            <a:ext cx="47242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3F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אנרגיה:  </a:t>
            </a:r>
            <a:pPr algn="r" indent="0" marL="0">
              <a:buNone/>
            </a:pPr>
            <a:r>
              <a:rPr lang="en-US" sz="125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חדה, אקדמית, קרה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6553048" y="2880360"/>
            <a:ext cx="47242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3F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מטרה:  </a:t>
            </a:r>
            <a:pPr algn="r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לבסס עובדות, הקשר ההיסטורי וההגדרות — לפזר את הערפל לפני שצוללים לעומק.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40080" y="1828800"/>
            <a:ext cx="5272888" cy="2011680"/>
          </a:xfrm>
          <a:prstGeom prst="roundRect">
            <a:avLst>
              <a:gd name="adj" fmla="val 3636"/>
            </a:avLst>
          </a:prstGeom>
          <a:solidFill>
            <a:srgbClr val="E4E6EF"/>
          </a:solidFill>
          <a:ln w="12700">
            <a:solidFill>
              <a:srgbClr val="5B6E8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5016856" y="2066544"/>
            <a:ext cx="658368" cy="658368"/>
          </a:xfrm>
          <a:prstGeom prst="ellipse">
            <a:avLst/>
          </a:prstGeom>
          <a:solidFill>
            <a:srgbClr val="5B6E8C"/>
          </a:solidFill>
          <a:ln/>
        </p:spPr>
      </p:sp>
      <p:pic>
        <p:nvPicPr>
          <p:cNvPr id="13" name="Image 1" descr="/tmp/claude-0/-home-user-Ein-Prat-work/bfe443db-e493-5438-add8-ac2e37bc83f4/scratchpad/pptx-build/icons/alertCirc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4864" y="2224552"/>
            <a:ext cx="342351" cy="342351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77240" y="19385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B6E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914400" y="2029968"/>
            <a:ext cx="4221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3E3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העומק והערעור</a:t>
            </a:r>
            <a:endParaRPr lang="en-US" sz="1700" dirty="0"/>
          </a:p>
        </p:txBody>
      </p:sp>
      <p:sp>
        <p:nvSpPr>
          <p:cNvPr id="16" name="Text 12"/>
          <p:cNvSpPr/>
          <p:nvPr/>
        </p:nvSpPr>
        <p:spPr>
          <a:xfrm>
            <a:off x="914400" y="2542032"/>
            <a:ext cx="47242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5B6E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אנרגיה:  </a:t>
            </a:r>
            <a:pPr algn="r" indent="0" marL="0">
              <a:buNone/>
            </a:pPr>
            <a:r>
              <a:rPr lang="en-US" sz="125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פילוסופית, מתוחה, עמוקה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914400" y="2880360"/>
            <a:ext cx="47242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5B6E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מטרה:  </a:t>
            </a:r>
            <a:pPr algn="r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לפרק את היסודות ולהעלות את הדילמה המרכזית — למה הנושא הזה בכלל נפיץ?</a:t>
            </a:r>
            <a:endParaRPr lang="en-US" sz="1250" dirty="0"/>
          </a:p>
        </p:txBody>
      </p:sp>
      <p:sp>
        <p:nvSpPr>
          <p:cNvPr id="18" name="Shape 14"/>
          <p:cNvSpPr/>
          <p:nvPr/>
        </p:nvSpPr>
        <p:spPr>
          <a:xfrm>
            <a:off x="6278728" y="4114800"/>
            <a:ext cx="5272888" cy="2011680"/>
          </a:xfrm>
          <a:prstGeom prst="roundRect">
            <a:avLst>
              <a:gd name="adj" fmla="val 3636"/>
            </a:avLst>
          </a:prstGeom>
          <a:solidFill>
            <a:srgbClr val="F1E7D6"/>
          </a:solidFill>
          <a:ln w="12700">
            <a:solidFill>
              <a:srgbClr val="9C7B4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10655503" y="4352544"/>
            <a:ext cx="658368" cy="658368"/>
          </a:xfrm>
          <a:prstGeom prst="ellipse">
            <a:avLst/>
          </a:prstGeom>
          <a:solidFill>
            <a:srgbClr val="9C7B4F"/>
          </a:solidFill>
          <a:ln/>
        </p:spPr>
      </p:sp>
      <p:pic>
        <p:nvPicPr>
          <p:cNvPr id="20" name="Image 2" descr="/tmp/claude-0/-home-user-Ein-Prat-work/bfe443db-e493-5438-add8-ac2e37bc83f4/scratchpad/pptx-build/icons/sta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13512" y="4510552"/>
            <a:ext cx="342351" cy="342351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6415888" y="42245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C7B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22" name="Text 17"/>
          <p:cNvSpPr/>
          <p:nvPr/>
        </p:nvSpPr>
        <p:spPr>
          <a:xfrm>
            <a:off x="6553048" y="4315968"/>
            <a:ext cx="4221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3E3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הזווית המפתיעה</a:t>
            </a:r>
            <a:endParaRPr lang="en-US" sz="1700" dirty="0"/>
          </a:p>
        </p:txBody>
      </p:sp>
      <p:sp>
        <p:nvSpPr>
          <p:cNvPr id="23" name="Text 18"/>
          <p:cNvSpPr/>
          <p:nvPr/>
        </p:nvSpPr>
        <p:spPr>
          <a:xfrm>
            <a:off x="6553048" y="4828032"/>
            <a:ext cx="47242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9C7B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אנרגיה:  </a:t>
            </a:r>
            <a:pPr algn="r" indent="0" marL="0">
              <a:buNone/>
            </a:pPr>
            <a:r>
              <a:rPr lang="en-US" sz="125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מפתיעה, מחברת בין תחומים</a:t>
            </a:r>
            <a:endParaRPr lang="en-US" sz="1250" dirty="0"/>
          </a:p>
        </p:txBody>
      </p:sp>
      <p:sp>
        <p:nvSpPr>
          <p:cNvPr id="24" name="Text 19"/>
          <p:cNvSpPr/>
          <p:nvPr/>
        </p:nvSpPr>
        <p:spPr>
          <a:xfrm>
            <a:off x="6553048" y="5166360"/>
            <a:ext cx="47242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9C7B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מטרה:  </a:t>
            </a:r>
            <a:pPr algn="r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להסתכל על הנושא מזווית חדשה לגמרי — אמנות, פסיכולוגיה, סוציולוגיה, קולנוע.</a:t>
            </a:r>
            <a:endParaRPr lang="en-US" sz="1250" dirty="0"/>
          </a:p>
        </p:txBody>
      </p:sp>
      <p:sp>
        <p:nvSpPr>
          <p:cNvPr id="25" name="Shape 20"/>
          <p:cNvSpPr/>
          <p:nvPr/>
        </p:nvSpPr>
        <p:spPr>
          <a:xfrm>
            <a:off x="640080" y="4114800"/>
            <a:ext cx="5272888" cy="2011680"/>
          </a:xfrm>
          <a:prstGeom prst="roundRect">
            <a:avLst>
              <a:gd name="adj" fmla="val 3636"/>
            </a:avLst>
          </a:prstGeom>
          <a:solidFill>
            <a:srgbClr val="F3E9D2"/>
          </a:solidFill>
          <a:ln w="12700">
            <a:solidFill>
              <a:srgbClr val="9C7B34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Shape 21"/>
          <p:cNvSpPr/>
          <p:nvPr/>
        </p:nvSpPr>
        <p:spPr>
          <a:xfrm>
            <a:off x="5016856" y="4352544"/>
            <a:ext cx="658368" cy="658368"/>
          </a:xfrm>
          <a:prstGeom prst="ellipse">
            <a:avLst/>
          </a:prstGeom>
          <a:solidFill>
            <a:srgbClr val="9C7B34"/>
          </a:solidFill>
          <a:ln/>
        </p:spPr>
      </p:sp>
      <p:pic>
        <p:nvPicPr>
          <p:cNvPr id="27" name="Image 3" descr="/tmp/claude-0/-home-user-Ein-Prat-work/bfe443db-e493-5438-add8-ac2e37bc83f4/scratchpad/pptx-build/icons/hear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74864" y="4510552"/>
            <a:ext cx="342351" cy="342351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777240" y="42245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C7B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9" name="Text 23"/>
          <p:cNvSpPr/>
          <p:nvPr/>
        </p:nvSpPr>
        <p:spPr>
          <a:xfrm>
            <a:off x="914400" y="4315968"/>
            <a:ext cx="4221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3E3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נחיתה אל הלב</a:t>
            </a:r>
            <a:endParaRPr lang="en-US" sz="1700" dirty="0"/>
          </a:p>
        </p:txBody>
      </p:sp>
      <p:sp>
        <p:nvSpPr>
          <p:cNvPr id="30" name="Text 24"/>
          <p:cNvSpPr/>
          <p:nvPr/>
        </p:nvSpPr>
        <p:spPr>
          <a:xfrm>
            <a:off x="914400" y="4828032"/>
            <a:ext cx="47242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9C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אנרגיה:  </a:t>
            </a:r>
            <a:pPr algn="r" indent="0" marL="0">
              <a:buNone/>
            </a:pPr>
            <a:r>
              <a:rPr lang="en-US" sz="125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אינטימית, קיומית, פתוחה</a:t>
            </a:r>
            <a:endParaRPr lang="en-US" sz="1250" dirty="0"/>
          </a:p>
        </p:txBody>
      </p:sp>
      <p:sp>
        <p:nvSpPr>
          <p:cNvPr id="31" name="Text 25"/>
          <p:cNvSpPr/>
          <p:nvPr/>
        </p:nvSpPr>
        <p:spPr>
          <a:xfrm>
            <a:off x="914400" y="5166360"/>
            <a:ext cx="47242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9C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מטרה:  </a:t>
            </a:r>
            <a:pPr algn="r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לגעת ברלוונטיות האישית — "איפה זה פוגש אותי?" נחיתה רכה לתוך הלילה.</a:t>
            </a:r>
            <a:endParaRPr lang="en-US" sz="1250" dirty="0"/>
          </a:p>
        </p:txBody>
      </p:sp>
      <p:sp>
        <p:nvSpPr>
          <p:cNvPr id="32" name="Text 26"/>
          <p:cNvSpPr/>
          <p:nvPr/>
        </p:nvSpPr>
        <p:spPr>
          <a:xfrm>
            <a:off x="640080" y="64008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בניית משמר · תשפ״ז</a:t>
            </a:r>
            <a:endParaRPr lang="en-US" sz="1000" dirty="0"/>
          </a:p>
        </p:txBody>
      </p:sp>
      <p:sp>
        <p:nvSpPr>
          <p:cNvPr id="33" name="Text 27"/>
          <p:cNvSpPr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100" kern="0" dirty="0">
                <a:solidFill>
                  <a:srgbClr val="9C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האפשרויות שלכם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200" b="1" dirty="0">
                <a:solidFill>
                  <a:srgbClr val="3E3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בוחרים רכיבים — לא ממלאים תבנית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278728" y="1828800"/>
            <a:ext cx="5272888" cy="2011680"/>
          </a:xfrm>
          <a:prstGeom prst="roundRect">
            <a:avLst>
              <a:gd name="adj" fmla="val 3636"/>
            </a:avLst>
          </a:prstGeom>
          <a:solidFill>
            <a:srgbClr val="DEE9EF"/>
          </a:solidFill>
          <a:ln w="12700">
            <a:solidFill>
              <a:srgbClr val="3F648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737799" y="1975104"/>
            <a:ext cx="621792" cy="621792"/>
          </a:xfrm>
          <a:prstGeom prst="ellipse">
            <a:avLst/>
          </a:prstGeom>
          <a:solidFill>
            <a:srgbClr val="3F6480"/>
          </a:solidFill>
          <a:ln/>
        </p:spPr>
      </p:sp>
      <p:pic>
        <p:nvPicPr>
          <p:cNvPr id="6" name="Image 0" descr="/tmp/claude-0/-home-user-Ein-Prat-work/bfe443db-e493-5438-add8-ac2e37bc83f4/scratchpad/pptx-build/icons/st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87029" y="2124334"/>
            <a:ext cx="323332" cy="3233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507328" y="2011680"/>
            <a:ext cx="42670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50" b="1" dirty="0">
                <a:solidFill>
                  <a:srgbClr val="3E3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פתיחה</a:t>
            </a:r>
            <a:endParaRPr lang="en-US" sz="1650" dirty="0"/>
          </a:p>
        </p:txBody>
      </p:sp>
      <p:sp>
        <p:nvSpPr>
          <p:cNvPr id="8" name="Shape 5"/>
          <p:cNvSpPr/>
          <p:nvPr/>
        </p:nvSpPr>
        <p:spPr>
          <a:xfrm>
            <a:off x="11167567" y="2679192"/>
            <a:ext cx="73152" cy="73152"/>
          </a:xfrm>
          <a:prstGeom prst="ellipse">
            <a:avLst/>
          </a:prstGeom>
          <a:solidFill>
            <a:srgbClr val="3F6480"/>
          </a:solidFill>
          <a:ln/>
        </p:spPr>
      </p:sp>
      <p:sp>
        <p:nvSpPr>
          <p:cNvPr id="9" name="Text 6"/>
          <p:cNvSpPr/>
          <p:nvPr/>
        </p:nvSpPr>
        <p:spPr>
          <a:xfrm>
            <a:off x="6507328" y="2560320"/>
            <a:ext cx="4495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שיעור ראשון רגיל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11167567" y="2971800"/>
            <a:ext cx="73152" cy="73152"/>
          </a:xfrm>
          <a:prstGeom prst="ellipse">
            <a:avLst/>
          </a:prstGeom>
          <a:solidFill>
            <a:srgbClr val="3F6480"/>
          </a:solidFill>
          <a:ln/>
        </p:spPr>
      </p:sp>
      <p:sp>
        <p:nvSpPr>
          <p:cNvPr id="11" name="Text 8"/>
          <p:cNvSpPr/>
          <p:nvPr/>
        </p:nvSpPr>
        <p:spPr>
          <a:xfrm>
            <a:off x="6507328" y="2852928"/>
            <a:ext cx="4495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טקס ממלכתי (כמו ליום הזכרון)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11167567" y="3264408"/>
            <a:ext cx="73152" cy="73152"/>
          </a:xfrm>
          <a:prstGeom prst="ellipse">
            <a:avLst/>
          </a:prstGeom>
          <a:solidFill>
            <a:srgbClr val="3F6480"/>
          </a:solidFill>
          <a:ln/>
        </p:spPr>
      </p:sp>
      <p:sp>
        <p:nvSpPr>
          <p:cNvPr id="13" name="Text 10"/>
          <p:cNvSpPr/>
          <p:nvPr/>
        </p:nvSpPr>
        <p:spPr>
          <a:xfrm>
            <a:off x="6507328" y="3145536"/>
            <a:ext cx="4495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הרצאת אורח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11167567" y="3557016"/>
            <a:ext cx="73152" cy="73152"/>
          </a:xfrm>
          <a:prstGeom prst="ellipse">
            <a:avLst/>
          </a:prstGeom>
          <a:solidFill>
            <a:srgbClr val="3F6480"/>
          </a:solidFill>
          <a:ln/>
        </p:spPr>
      </p:sp>
      <p:sp>
        <p:nvSpPr>
          <p:cNvPr id="15" name="Text 12"/>
          <p:cNvSpPr/>
          <p:nvPr/>
        </p:nvSpPr>
        <p:spPr>
          <a:xfrm>
            <a:off x="6507328" y="3438144"/>
            <a:ext cx="4495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משבצת פתיחה קצרה שמציגה את הנושא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40080" y="1828800"/>
            <a:ext cx="5272888" cy="2011680"/>
          </a:xfrm>
          <a:prstGeom prst="roundRect">
            <a:avLst>
              <a:gd name="adj" fmla="val 3636"/>
            </a:avLst>
          </a:prstGeom>
          <a:solidFill>
            <a:srgbClr val="E7EEDF"/>
          </a:solidFill>
          <a:ln w="12700">
            <a:solidFill>
              <a:srgbClr val="5E7B47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5099152" y="1975104"/>
            <a:ext cx="621792" cy="621792"/>
          </a:xfrm>
          <a:prstGeom prst="ellipse">
            <a:avLst/>
          </a:prstGeom>
          <a:solidFill>
            <a:srgbClr val="5E7B47"/>
          </a:solidFill>
          <a:ln/>
        </p:spPr>
      </p:sp>
      <p:pic>
        <p:nvPicPr>
          <p:cNvPr id="18" name="Image 1" descr="/tmp/claude-0/-home-user-Ein-Prat-work/bfe443db-e493-5438-add8-ac2e37bc83f4/scratchpad/pptx-build/icons/glob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48382" y="2124334"/>
            <a:ext cx="323332" cy="323332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868680" y="2011680"/>
            <a:ext cx="42670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50" b="1" dirty="0">
                <a:solidFill>
                  <a:srgbClr val="3E3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זווית / אמצע</a:t>
            </a:r>
            <a:endParaRPr lang="en-US" sz="1650" dirty="0"/>
          </a:p>
        </p:txBody>
      </p:sp>
      <p:sp>
        <p:nvSpPr>
          <p:cNvPr id="20" name="Shape 16"/>
          <p:cNvSpPr/>
          <p:nvPr/>
        </p:nvSpPr>
        <p:spPr>
          <a:xfrm>
            <a:off x="5528920" y="2679192"/>
            <a:ext cx="73152" cy="73152"/>
          </a:xfrm>
          <a:prstGeom prst="ellipse">
            <a:avLst/>
          </a:prstGeom>
          <a:solidFill>
            <a:srgbClr val="5E7B47"/>
          </a:solidFill>
          <a:ln/>
        </p:spPr>
      </p:sp>
      <p:sp>
        <p:nvSpPr>
          <p:cNvPr id="21" name="Text 17"/>
          <p:cNvSpPr/>
          <p:nvPr/>
        </p:nvSpPr>
        <p:spPr>
          <a:xfrm>
            <a:off x="868680" y="2560320"/>
            <a:ext cx="4495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מרצה חיצוני</a:t>
            </a:r>
            <a:endParaRPr lang="en-US" sz="1250" dirty="0"/>
          </a:p>
        </p:txBody>
      </p:sp>
      <p:sp>
        <p:nvSpPr>
          <p:cNvPr id="22" name="Shape 18"/>
          <p:cNvSpPr/>
          <p:nvPr/>
        </p:nvSpPr>
        <p:spPr>
          <a:xfrm>
            <a:off x="5528920" y="2971800"/>
            <a:ext cx="73152" cy="73152"/>
          </a:xfrm>
          <a:prstGeom prst="ellipse">
            <a:avLst/>
          </a:prstGeom>
          <a:solidFill>
            <a:srgbClr val="5E7B47"/>
          </a:solidFill>
          <a:ln/>
        </p:spPr>
      </p:sp>
      <p:sp>
        <p:nvSpPr>
          <p:cNvPr id="23" name="Text 19"/>
          <p:cNvSpPr/>
          <p:nvPr/>
        </p:nvSpPr>
        <p:spPr>
          <a:xfrm>
            <a:off x="868680" y="2852928"/>
            <a:ext cx="4495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ניתוח יצירה או סרט</a:t>
            </a:r>
            <a:endParaRPr lang="en-US" sz="1250" dirty="0"/>
          </a:p>
        </p:txBody>
      </p:sp>
      <p:sp>
        <p:nvSpPr>
          <p:cNvPr id="24" name="Shape 20"/>
          <p:cNvSpPr/>
          <p:nvPr/>
        </p:nvSpPr>
        <p:spPr>
          <a:xfrm>
            <a:off x="5528920" y="3264408"/>
            <a:ext cx="73152" cy="73152"/>
          </a:xfrm>
          <a:prstGeom prst="ellipse">
            <a:avLst/>
          </a:prstGeom>
          <a:solidFill>
            <a:srgbClr val="5E7B47"/>
          </a:solidFill>
          <a:ln/>
        </p:spPr>
      </p:sp>
      <p:sp>
        <p:nvSpPr>
          <p:cNvPr id="25" name="Text 21"/>
          <p:cNvSpPr/>
          <p:nvPr/>
        </p:nvSpPr>
        <p:spPr>
          <a:xfrm>
            <a:off x="868680" y="3145536"/>
            <a:ext cx="4495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דיון בטקסט קלאסי</a:t>
            </a:r>
            <a:endParaRPr lang="en-US" sz="1250" dirty="0"/>
          </a:p>
        </p:txBody>
      </p:sp>
      <p:sp>
        <p:nvSpPr>
          <p:cNvPr id="26" name="Shape 22"/>
          <p:cNvSpPr/>
          <p:nvPr/>
        </p:nvSpPr>
        <p:spPr>
          <a:xfrm>
            <a:off x="5528920" y="3557016"/>
            <a:ext cx="73152" cy="73152"/>
          </a:xfrm>
          <a:prstGeom prst="ellipse">
            <a:avLst/>
          </a:prstGeom>
          <a:solidFill>
            <a:srgbClr val="5E7B47"/>
          </a:solidFill>
          <a:ln/>
        </p:spPr>
      </p:sp>
      <p:sp>
        <p:nvSpPr>
          <p:cNvPr id="27" name="Text 23"/>
          <p:cNvSpPr/>
          <p:nvPr/>
        </p:nvSpPr>
        <p:spPr>
          <a:xfrm>
            <a:off x="868680" y="3438144"/>
            <a:ext cx="4495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מעגל שירה</a:t>
            </a:r>
            <a:endParaRPr lang="en-US" sz="1250" dirty="0"/>
          </a:p>
        </p:txBody>
      </p:sp>
      <p:sp>
        <p:nvSpPr>
          <p:cNvPr id="28" name="Shape 24"/>
          <p:cNvSpPr/>
          <p:nvPr/>
        </p:nvSpPr>
        <p:spPr>
          <a:xfrm>
            <a:off x="6278728" y="4114800"/>
            <a:ext cx="5272888" cy="2011680"/>
          </a:xfrm>
          <a:prstGeom prst="roundRect">
            <a:avLst>
              <a:gd name="adj" fmla="val 3636"/>
            </a:avLst>
          </a:prstGeom>
          <a:solidFill>
            <a:srgbClr val="F3E9D2"/>
          </a:solidFill>
          <a:ln w="12700">
            <a:solidFill>
              <a:srgbClr val="9C7B34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10737799" y="4261104"/>
            <a:ext cx="621792" cy="621792"/>
          </a:xfrm>
          <a:prstGeom prst="ellipse">
            <a:avLst/>
          </a:prstGeom>
          <a:solidFill>
            <a:srgbClr val="9C7B34"/>
          </a:solidFill>
          <a:ln/>
        </p:spPr>
      </p:sp>
      <p:pic>
        <p:nvPicPr>
          <p:cNvPr id="30" name="Image 2" descr="/tmp/claude-0/-home-user-Ein-Prat-work/bfe443db-e493-5438-add8-ac2e37bc83f4/scratchpad/pptx-build/icons/hear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7029" y="4410334"/>
            <a:ext cx="323332" cy="323332"/>
          </a:xfrm>
          <a:prstGeom prst="rect">
            <a:avLst/>
          </a:prstGeom>
        </p:spPr>
      </p:pic>
      <p:sp>
        <p:nvSpPr>
          <p:cNvPr id="31" name="Text 26"/>
          <p:cNvSpPr/>
          <p:nvPr/>
        </p:nvSpPr>
        <p:spPr>
          <a:xfrm>
            <a:off x="6507328" y="4297680"/>
            <a:ext cx="42670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50" b="1" dirty="0">
                <a:solidFill>
                  <a:srgbClr val="3E3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סיום — תמיד אינטראקטיבי</a:t>
            </a:r>
            <a:endParaRPr lang="en-US" sz="1650" dirty="0"/>
          </a:p>
        </p:txBody>
      </p:sp>
      <p:sp>
        <p:nvSpPr>
          <p:cNvPr id="32" name="Shape 27"/>
          <p:cNvSpPr/>
          <p:nvPr/>
        </p:nvSpPr>
        <p:spPr>
          <a:xfrm>
            <a:off x="11167567" y="4965192"/>
            <a:ext cx="73152" cy="73152"/>
          </a:xfrm>
          <a:prstGeom prst="ellipse">
            <a:avLst/>
          </a:prstGeom>
          <a:solidFill>
            <a:srgbClr val="9C7B34"/>
          </a:solidFill>
          <a:ln/>
        </p:spPr>
      </p:sp>
      <p:sp>
        <p:nvSpPr>
          <p:cNvPr id="33" name="Text 28"/>
          <p:cNvSpPr/>
          <p:nvPr/>
        </p:nvSpPr>
        <p:spPr>
          <a:xfrm>
            <a:off x="6507328" y="4846320"/>
            <a:ext cx="4495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חבורות בטקסט</a:t>
            </a:r>
            <a:endParaRPr lang="en-US" sz="1250" dirty="0"/>
          </a:p>
        </p:txBody>
      </p:sp>
      <p:sp>
        <p:nvSpPr>
          <p:cNvPr id="34" name="Shape 29"/>
          <p:cNvSpPr/>
          <p:nvPr/>
        </p:nvSpPr>
        <p:spPr>
          <a:xfrm>
            <a:off x="11167567" y="5257800"/>
            <a:ext cx="73152" cy="73152"/>
          </a:xfrm>
          <a:prstGeom prst="ellipse">
            <a:avLst/>
          </a:prstGeom>
          <a:solidFill>
            <a:srgbClr val="9C7B34"/>
          </a:solidFill>
          <a:ln/>
        </p:spPr>
      </p:sp>
      <p:sp>
        <p:nvSpPr>
          <p:cNvPr id="35" name="Text 30"/>
          <p:cNvSpPr/>
          <p:nvPr/>
        </p:nvSpPr>
        <p:spPr>
          <a:xfrm>
            <a:off x="6507328" y="5138928"/>
            <a:ext cx="4495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טד אישי</a:t>
            </a:r>
            <a:endParaRPr lang="en-US" sz="1250" dirty="0"/>
          </a:p>
        </p:txBody>
      </p:sp>
      <p:sp>
        <p:nvSpPr>
          <p:cNvPr id="36" name="Shape 31"/>
          <p:cNvSpPr/>
          <p:nvPr/>
        </p:nvSpPr>
        <p:spPr>
          <a:xfrm>
            <a:off x="11167567" y="5550408"/>
            <a:ext cx="73152" cy="73152"/>
          </a:xfrm>
          <a:prstGeom prst="ellipse">
            <a:avLst/>
          </a:prstGeom>
          <a:solidFill>
            <a:srgbClr val="9C7B34"/>
          </a:solidFill>
          <a:ln/>
        </p:spPr>
      </p:sp>
      <p:sp>
        <p:nvSpPr>
          <p:cNvPr id="37" name="Text 32"/>
          <p:cNvSpPr/>
          <p:nvPr/>
        </p:nvSpPr>
        <p:spPr>
          <a:xfrm>
            <a:off x="6507328" y="5431536"/>
            <a:ext cx="4495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כתיבה מודרכת</a:t>
            </a:r>
            <a:endParaRPr lang="en-US" sz="1250" dirty="0"/>
          </a:p>
        </p:txBody>
      </p:sp>
      <p:sp>
        <p:nvSpPr>
          <p:cNvPr id="38" name="Shape 33"/>
          <p:cNvSpPr/>
          <p:nvPr/>
        </p:nvSpPr>
        <p:spPr>
          <a:xfrm>
            <a:off x="11167567" y="5843016"/>
            <a:ext cx="73152" cy="73152"/>
          </a:xfrm>
          <a:prstGeom prst="ellipse">
            <a:avLst/>
          </a:prstGeom>
          <a:solidFill>
            <a:srgbClr val="9C7B34"/>
          </a:solidFill>
          <a:ln/>
        </p:spPr>
      </p:sp>
      <p:sp>
        <p:nvSpPr>
          <p:cNvPr id="39" name="Text 34"/>
          <p:cNvSpPr/>
          <p:nvPr/>
        </p:nvSpPr>
        <p:spPr>
          <a:xfrm>
            <a:off x="6507328" y="5724144"/>
            <a:ext cx="4495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דיבייט</a:t>
            </a:r>
            <a:endParaRPr lang="en-US" sz="1250" dirty="0"/>
          </a:p>
        </p:txBody>
      </p:sp>
      <p:sp>
        <p:nvSpPr>
          <p:cNvPr id="40" name="Shape 35"/>
          <p:cNvSpPr/>
          <p:nvPr/>
        </p:nvSpPr>
        <p:spPr>
          <a:xfrm>
            <a:off x="640080" y="4114800"/>
            <a:ext cx="5272888" cy="2011680"/>
          </a:xfrm>
          <a:prstGeom prst="roundRect">
            <a:avLst>
              <a:gd name="adj" fmla="val 3636"/>
            </a:avLst>
          </a:prstGeom>
          <a:solidFill>
            <a:srgbClr val="E4E6EF"/>
          </a:solidFill>
          <a:ln w="12700">
            <a:solidFill>
              <a:srgbClr val="5B6E8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41" name="Shape 36"/>
          <p:cNvSpPr/>
          <p:nvPr/>
        </p:nvSpPr>
        <p:spPr>
          <a:xfrm>
            <a:off x="5099152" y="4261104"/>
            <a:ext cx="621792" cy="621792"/>
          </a:xfrm>
          <a:prstGeom prst="ellipse">
            <a:avLst/>
          </a:prstGeom>
          <a:solidFill>
            <a:srgbClr val="5B6E8C"/>
          </a:solidFill>
          <a:ln/>
        </p:spPr>
      </p:sp>
      <p:pic>
        <p:nvPicPr>
          <p:cNvPr id="42" name="Image 3" descr="/tmp/claude-0/-home-user-Ein-Prat-work/bfe443db-e493-5438-add8-ac2e37bc83f4/scratchpad/pptx-build/icons/partyPoppe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48382" y="4410334"/>
            <a:ext cx="323332" cy="323332"/>
          </a:xfrm>
          <a:prstGeom prst="rect">
            <a:avLst/>
          </a:prstGeom>
        </p:spPr>
      </p:pic>
      <p:sp>
        <p:nvSpPr>
          <p:cNvPr id="43" name="Text 37"/>
          <p:cNvSpPr/>
          <p:nvPr/>
        </p:nvSpPr>
        <p:spPr>
          <a:xfrm>
            <a:off x="868680" y="4297680"/>
            <a:ext cx="42670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50" b="1" dirty="0">
                <a:solidFill>
                  <a:srgbClr val="3E3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תוספת מיוחדת (לא חובה)</a:t>
            </a:r>
            <a:endParaRPr lang="en-US" sz="1650" dirty="0"/>
          </a:p>
        </p:txBody>
      </p:sp>
      <p:sp>
        <p:nvSpPr>
          <p:cNvPr id="44" name="Shape 38"/>
          <p:cNvSpPr/>
          <p:nvPr/>
        </p:nvSpPr>
        <p:spPr>
          <a:xfrm>
            <a:off x="5528920" y="4965192"/>
            <a:ext cx="73152" cy="73152"/>
          </a:xfrm>
          <a:prstGeom prst="ellipse">
            <a:avLst/>
          </a:prstGeom>
          <a:solidFill>
            <a:srgbClr val="5B6E8C"/>
          </a:solidFill>
          <a:ln/>
        </p:spPr>
      </p:sp>
      <p:sp>
        <p:nvSpPr>
          <p:cNvPr id="45" name="Text 39"/>
          <p:cNvSpPr/>
          <p:nvPr/>
        </p:nvSpPr>
        <p:spPr>
          <a:xfrm>
            <a:off x="868680" y="4846320"/>
            <a:ext cx="4495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ארוחת ערב בנושא</a:t>
            </a:r>
            <a:endParaRPr lang="en-US" sz="1250" dirty="0"/>
          </a:p>
        </p:txBody>
      </p:sp>
      <p:sp>
        <p:nvSpPr>
          <p:cNvPr id="46" name="Shape 40"/>
          <p:cNvSpPr/>
          <p:nvPr/>
        </p:nvSpPr>
        <p:spPr>
          <a:xfrm>
            <a:off x="5528920" y="5257800"/>
            <a:ext cx="73152" cy="73152"/>
          </a:xfrm>
          <a:prstGeom prst="ellipse">
            <a:avLst/>
          </a:prstGeom>
          <a:solidFill>
            <a:srgbClr val="5B6E8C"/>
          </a:solidFill>
          <a:ln/>
        </p:spPr>
      </p:sp>
      <p:sp>
        <p:nvSpPr>
          <p:cNvPr id="47" name="Text 41"/>
          <p:cNvSpPr/>
          <p:nvPr/>
        </p:nvSpPr>
        <p:spPr>
          <a:xfrm>
            <a:off x="868680" y="5138928"/>
            <a:ext cx="4495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קישוט תמטי</a:t>
            </a:r>
            <a:endParaRPr lang="en-US" sz="1250" dirty="0"/>
          </a:p>
        </p:txBody>
      </p:sp>
      <p:sp>
        <p:nvSpPr>
          <p:cNvPr id="48" name="Shape 42"/>
          <p:cNvSpPr/>
          <p:nvPr/>
        </p:nvSpPr>
        <p:spPr>
          <a:xfrm>
            <a:off x="5528920" y="5550408"/>
            <a:ext cx="73152" cy="73152"/>
          </a:xfrm>
          <a:prstGeom prst="ellipse">
            <a:avLst/>
          </a:prstGeom>
          <a:solidFill>
            <a:srgbClr val="5B6E8C"/>
          </a:solidFill>
          <a:ln/>
        </p:spPr>
      </p:sp>
      <p:sp>
        <p:nvSpPr>
          <p:cNvPr id="49" name="Text 43"/>
          <p:cNvSpPr/>
          <p:nvPr/>
        </p:nvSpPr>
        <p:spPr>
          <a:xfrm>
            <a:off x="868680" y="5431536"/>
            <a:ext cx="4495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שולחן זיכרון / פריטים אישיים</a:t>
            </a:r>
            <a:endParaRPr lang="en-US" sz="1250" dirty="0"/>
          </a:p>
        </p:txBody>
      </p:sp>
      <p:sp>
        <p:nvSpPr>
          <p:cNvPr id="50" name="Shape 44"/>
          <p:cNvSpPr/>
          <p:nvPr/>
        </p:nvSpPr>
        <p:spPr>
          <a:xfrm>
            <a:off x="5528920" y="5843016"/>
            <a:ext cx="73152" cy="73152"/>
          </a:xfrm>
          <a:prstGeom prst="ellipse">
            <a:avLst/>
          </a:prstGeom>
          <a:solidFill>
            <a:srgbClr val="5B6E8C"/>
          </a:solidFill>
          <a:ln/>
        </p:spPr>
      </p:sp>
      <p:sp>
        <p:nvSpPr>
          <p:cNvPr id="51" name="Text 45"/>
          <p:cNvSpPr/>
          <p:nvPr/>
        </p:nvSpPr>
        <p:spPr>
          <a:xfrm>
            <a:off x="868680" y="5724144"/>
            <a:ext cx="4495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לימוד רשות</a:t>
            </a:r>
            <a:endParaRPr lang="en-US" sz="1250" dirty="0"/>
          </a:p>
        </p:txBody>
      </p:sp>
      <p:sp>
        <p:nvSpPr>
          <p:cNvPr id="52" name="Text 46"/>
          <p:cNvSpPr/>
          <p:nvPr/>
        </p:nvSpPr>
        <p:spPr>
          <a:xfrm>
            <a:off x="640080" y="64008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בניית משמר · תשפ״ז</a:t>
            </a:r>
            <a:endParaRPr lang="en-US" sz="1000" dirty="0"/>
          </a:p>
        </p:txBody>
      </p:sp>
      <p:sp>
        <p:nvSpPr>
          <p:cNvPr id="53" name="Text 47"/>
          <p:cNvSpPr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100" kern="0" dirty="0">
                <a:solidFill>
                  <a:srgbClr val="9C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התהליך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200" b="1" dirty="0">
                <a:solidFill>
                  <a:srgbClr val="3E3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איך בונים משמר — משלב לשלב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11021263" y="2098548"/>
            <a:ext cx="512064" cy="512064"/>
          </a:xfrm>
          <a:prstGeom prst="ellipse">
            <a:avLst/>
          </a:prstGeom>
          <a:solidFill>
            <a:srgbClr val="5E7B47"/>
          </a:solidFill>
          <a:ln/>
        </p:spPr>
      </p:sp>
      <p:pic>
        <p:nvPicPr>
          <p:cNvPr id="5" name="Image 0" descr="/tmp/claude-0/-home-user-Ein-Prat-work/bfe443db-e493-5438-add8-ac2e37bc83f4/scratchpad/pptx-build/icons/targ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4159" y="2221443"/>
            <a:ext cx="266273" cy="26627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500055" y="1874520"/>
            <a:ext cx="457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E4DDC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900" dirty="0"/>
          </a:p>
        </p:txBody>
      </p:sp>
      <p:sp>
        <p:nvSpPr>
          <p:cNvPr id="7" name="Text 4"/>
          <p:cNvSpPr/>
          <p:nvPr/>
        </p:nvSpPr>
        <p:spPr>
          <a:xfrm>
            <a:off x="6347308" y="1874520"/>
            <a:ext cx="37869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בוחרים נושא</a:t>
            </a:r>
            <a:endParaRPr lang="en-US" sz="1500" dirty="0"/>
          </a:p>
          <a:p>
            <a:pPr algn="r" indent="0" marL="0">
              <a:buNone/>
            </a:pPr>
            <a:r>
              <a:rPr lang="en-US" sz="125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לפי התקופה בשנה, התוכנית, וההשראה שלכם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11021263" y="3150108"/>
            <a:ext cx="512064" cy="512064"/>
          </a:xfrm>
          <a:prstGeom prst="ellipse">
            <a:avLst/>
          </a:prstGeom>
          <a:solidFill>
            <a:srgbClr val="3F6480"/>
          </a:solidFill>
          <a:ln/>
        </p:spPr>
      </p:sp>
      <p:pic>
        <p:nvPicPr>
          <p:cNvPr id="9" name="Image 1" descr="/tmp/claude-0/-home-user-Ein-Prat-work/bfe443db-e493-5438-add8-ac2e37bc83f4/scratchpad/pptx-build/icons/clo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44159" y="3273003"/>
            <a:ext cx="266273" cy="266273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0500055" y="2926080"/>
            <a:ext cx="457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E4DDC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900" dirty="0"/>
          </a:p>
        </p:txBody>
      </p:sp>
      <p:sp>
        <p:nvSpPr>
          <p:cNvPr id="11" name="Text 7"/>
          <p:cNvSpPr/>
          <p:nvPr/>
        </p:nvSpPr>
        <p:spPr>
          <a:xfrm>
            <a:off x="6347308" y="2926080"/>
            <a:ext cx="37869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קובעים לוז</a:t>
            </a:r>
            <a:endParaRPr lang="en-US" sz="1500" dirty="0"/>
          </a:p>
          <a:p>
            <a:pPr algn="r" indent="0" marL="0">
              <a:buNone/>
            </a:pPr>
            <a:r>
              <a:rPr lang="en-US" sz="125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כמה מקטעים, אילו הפסקות, מתי חבורות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11021263" y="4201668"/>
            <a:ext cx="512064" cy="512064"/>
          </a:xfrm>
          <a:prstGeom prst="ellipse">
            <a:avLst/>
          </a:prstGeom>
          <a:solidFill>
            <a:srgbClr val="5E7B47"/>
          </a:solidFill>
          <a:ln/>
        </p:spPr>
      </p:sp>
      <p:pic>
        <p:nvPicPr>
          <p:cNvPr id="13" name="Image 2" descr="/tmp/claude-0/-home-user-Ein-Prat-work/bfe443db-e493-5438-add8-ac2e37bc83f4/scratchpad/pptx-build/icons/mi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44159" y="4324563"/>
            <a:ext cx="266273" cy="266273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0500055" y="3977640"/>
            <a:ext cx="457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E4DDC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900" dirty="0"/>
          </a:p>
        </p:txBody>
      </p:sp>
      <p:sp>
        <p:nvSpPr>
          <p:cNvPr id="15" name="Text 10"/>
          <p:cNvSpPr/>
          <p:nvPr/>
        </p:nvSpPr>
        <p:spPr>
          <a:xfrm>
            <a:off x="6347308" y="3977640"/>
            <a:ext cx="37869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מחפשים מרצים</a:t>
            </a:r>
            <a:endParaRPr lang="en-US" sz="1500" dirty="0"/>
          </a:p>
          <a:p>
            <a:pPr algn="r" indent="0" marL="0">
              <a:buNone/>
            </a:pPr>
            <a:r>
              <a:rPr lang="en-US" sz="125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בודקים במאגר המשותף, פונים, סוגרים</a:t>
            </a:r>
            <a:endParaRPr lang="en-US" sz="1500" dirty="0"/>
          </a:p>
        </p:txBody>
      </p:sp>
      <p:sp>
        <p:nvSpPr>
          <p:cNvPr id="16" name="Shape 11"/>
          <p:cNvSpPr/>
          <p:nvPr/>
        </p:nvSpPr>
        <p:spPr>
          <a:xfrm>
            <a:off x="11021263" y="5253228"/>
            <a:ext cx="512064" cy="512064"/>
          </a:xfrm>
          <a:prstGeom prst="ellipse">
            <a:avLst/>
          </a:prstGeom>
          <a:solidFill>
            <a:srgbClr val="3F6480"/>
          </a:solidFill>
          <a:ln/>
        </p:spPr>
      </p:sp>
      <p:pic>
        <p:nvPicPr>
          <p:cNvPr id="17" name="Image 3" descr="/tmp/claude-0/-home-user-Ein-Prat-work/bfe443db-e493-5438-add8-ac2e37bc83f4/scratchpad/pptx-build/icons/hear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44159" y="5376123"/>
            <a:ext cx="266273" cy="266273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0500055" y="5029200"/>
            <a:ext cx="457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E4DDC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900" dirty="0"/>
          </a:p>
        </p:txBody>
      </p:sp>
      <p:sp>
        <p:nvSpPr>
          <p:cNvPr id="19" name="Text 13"/>
          <p:cNvSpPr/>
          <p:nvPr/>
        </p:nvSpPr>
        <p:spPr>
          <a:xfrm>
            <a:off x="6347308" y="5029200"/>
            <a:ext cx="37869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בונים סיום</a:t>
            </a:r>
            <a:endParaRPr lang="en-US" sz="1500" dirty="0"/>
          </a:p>
          <a:p>
            <a:pPr algn="r" indent="0" marL="0">
              <a:buNone/>
            </a:pPr>
            <a:r>
              <a:rPr lang="en-US" sz="125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חבורות / טד / כתיבה / דיבייט — תמיד אינטראקטיבי. זה המקום שלכם להתבטא</a:t>
            </a:r>
            <a:endParaRPr lang="en-US" sz="1500" dirty="0"/>
          </a:p>
        </p:txBody>
      </p:sp>
      <p:sp>
        <p:nvSpPr>
          <p:cNvPr id="20" name="Shape 14"/>
          <p:cNvSpPr/>
          <p:nvPr/>
        </p:nvSpPr>
        <p:spPr>
          <a:xfrm>
            <a:off x="5314036" y="2098548"/>
            <a:ext cx="512064" cy="512064"/>
          </a:xfrm>
          <a:prstGeom prst="ellipse">
            <a:avLst/>
          </a:prstGeom>
          <a:solidFill>
            <a:srgbClr val="5E7B47"/>
          </a:solidFill>
          <a:ln/>
        </p:spPr>
      </p:sp>
      <p:pic>
        <p:nvPicPr>
          <p:cNvPr id="21" name="Image 4" descr="/tmp/claude-0/-home-user-Ein-Prat-work/bfe443db-e493-5438-add8-ac2e37bc83f4/scratchpad/pptx-build/icons/scissor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36931" y="2221443"/>
            <a:ext cx="266273" cy="266273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4792828" y="1874520"/>
            <a:ext cx="457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E4DDC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900" dirty="0"/>
          </a:p>
        </p:txBody>
      </p:sp>
      <p:sp>
        <p:nvSpPr>
          <p:cNvPr id="23" name="Text 16"/>
          <p:cNvSpPr/>
          <p:nvPr/>
        </p:nvSpPr>
        <p:spPr>
          <a:xfrm>
            <a:off x="640080" y="1874520"/>
            <a:ext cx="37869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מתכננים תפאורה וכיבוד</a:t>
            </a:r>
            <a:endParaRPr lang="en-US" sz="1500" dirty="0"/>
          </a:p>
          <a:p>
            <a:pPr algn="r" indent="0" marL="0">
              <a:buNone/>
            </a:pPr>
            <a:r>
              <a:rPr lang="en-US" sz="125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ראו את שני הסליידים הבאים</a:t>
            </a:r>
            <a:endParaRPr lang="en-US" sz="1500" dirty="0"/>
          </a:p>
        </p:txBody>
      </p:sp>
      <p:sp>
        <p:nvSpPr>
          <p:cNvPr id="24" name="Shape 17"/>
          <p:cNvSpPr/>
          <p:nvPr/>
        </p:nvSpPr>
        <p:spPr>
          <a:xfrm>
            <a:off x="5314036" y="3150108"/>
            <a:ext cx="512064" cy="512064"/>
          </a:xfrm>
          <a:prstGeom prst="ellipse">
            <a:avLst/>
          </a:prstGeom>
          <a:solidFill>
            <a:srgbClr val="3F6480"/>
          </a:solidFill>
          <a:ln/>
        </p:spPr>
      </p:sp>
      <p:pic>
        <p:nvPicPr>
          <p:cNvPr id="25" name="Image 5" descr="/tmp/claude-0/-home-user-Ein-Prat-work/bfe443db-e493-5438-add8-ac2e37bc83f4/scratchpad/pptx-build/icons/edit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36931" y="3273003"/>
            <a:ext cx="266273" cy="266273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4792828" y="2926080"/>
            <a:ext cx="457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E4DDC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900" dirty="0"/>
          </a:p>
        </p:txBody>
      </p:sp>
      <p:sp>
        <p:nvSpPr>
          <p:cNvPr id="27" name="Text 19"/>
          <p:cNvSpPr/>
          <p:nvPr/>
        </p:nvSpPr>
        <p:spPr>
          <a:xfrm>
            <a:off x="640080" y="2926080"/>
            <a:ext cx="37869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מעצבים ומפיצים הזמנה</a:t>
            </a:r>
            <a:endParaRPr lang="en-US" sz="1500" dirty="0"/>
          </a:p>
          <a:p>
            <a:pPr algn="r" indent="0" marL="0">
              <a:buNone/>
            </a:pPr>
            <a:r>
              <a:rPr lang="en-US" sz="125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פרומפט + תמונה, או רקע קיים</a:t>
            </a:r>
            <a:endParaRPr lang="en-US" sz="1500" dirty="0"/>
          </a:p>
        </p:txBody>
      </p:sp>
      <p:sp>
        <p:nvSpPr>
          <p:cNvPr id="28" name="Shape 20"/>
          <p:cNvSpPr/>
          <p:nvPr/>
        </p:nvSpPr>
        <p:spPr>
          <a:xfrm>
            <a:off x="5314036" y="4201668"/>
            <a:ext cx="512064" cy="512064"/>
          </a:xfrm>
          <a:prstGeom prst="ellipse">
            <a:avLst/>
          </a:prstGeom>
          <a:solidFill>
            <a:srgbClr val="5E7B47"/>
          </a:solidFill>
          <a:ln/>
        </p:spPr>
      </p:sp>
      <p:pic>
        <p:nvPicPr>
          <p:cNvPr id="29" name="Image 6" descr="/tmp/claude-0/-home-user-Ein-Prat-work/bfe443db-e493-5438-add8-ac2e37bc83f4/scratchpad/pptx-build/icons/star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36931" y="4324563"/>
            <a:ext cx="266273" cy="266273"/>
          </a:xfrm>
          <a:prstGeom prst="rect">
            <a:avLst/>
          </a:prstGeom>
        </p:spPr>
      </p:pic>
      <p:sp>
        <p:nvSpPr>
          <p:cNvPr id="30" name="Text 21"/>
          <p:cNvSpPr/>
          <p:nvPr/>
        </p:nvSpPr>
        <p:spPr>
          <a:xfrm>
            <a:off x="4792828" y="3977640"/>
            <a:ext cx="457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E4DDC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900" dirty="0"/>
          </a:p>
        </p:txBody>
      </p:sp>
      <p:sp>
        <p:nvSpPr>
          <p:cNvPr id="31" name="Text 22"/>
          <p:cNvSpPr/>
          <p:nvPr/>
        </p:nvSpPr>
        <p:spPr>
          <a:xfrm>
            <a:off x="640080" y="3977640"/>
            <a:ext cx="37869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מריצים את הלילה</a:t>
            </a:r>
            <a:endParaRPr lang="en-US" sz="1500" dirty="0"/>
          </a:p>
          <a:p>
            <a:pPr algn="r" indent="0" marL="0">
              <a:buNone/>
            </a:pPr>
            <a:r>
              <a:rPr lang="en-US" sz="125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ואז — סיכום ולקחים לשנה הבאה</a:t>
            </a:r>
            <a:endParaRPr lang="en-US" sz="1500" dirty="0"/>
          </a:p>
        </p:txBody>
      </p:sp>
      <p:sp>
        <p:nvSpPr>
          <p:cNvPr id="32" name="Text 23"/>
          <p:cNvSpPr/>
          <p:nvPr/>
        </p:nvSpPr>
        <p:spPr>
          <a:xfrm>
            <a:off x="640080" y="64008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בניית משמר · תשפ״ז</a:t>
            </a:r>
            <a:endParaRPr lang="en-US" sz="1000" dirty="0"/>
          </a:p>
        </p:txBody>
      </p:sp>
      <p:sp>
        <p:nvSpPr>
          <p:cNvPr id="33" name="Text 24"/>
          <p:cNvSpPr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100" kern="0" dirty="0">
                <a:solidFill>
                  <a:srgbClr val="9C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בחירת כיוון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200" b="1" dirty="0">
                <a:solidFill>
                  <a:srgbClr val="3E3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משמר פנימי או משמר חיצוני?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278728" y="1874520"/>
            <a:ext cx="5272888" cy="3017520"/>
          </a:xfrm>
          <a:prstGeom prst="roundRect">
            <a:avLst>
              <a:gd name="adj" fmla="val 2424"/>
            </a:avLst>
          </a:prstGeom>
          <a:solidFill>
            <a:srgbClr val="E7EEDF"/>
          </a:solidFill>
          <a:ln w="12700">
            <a:solidFill>
              <a:srgbClr val="5E7B47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549411" y="2194560"/>
            <a:ext cx="731520" cy="731520"/>
          </a:xfrm>
          <a:prstGeom prst="ellipse">
            <a:avLst/>
          </a:prstGeom>
          <a:solidFill>
            <a:srgbClr val="5E7B47"/>
          </a:solidFill>
          <a:ln/>
        </p:spPr>
      </p:sp>
      <p:pic>
        <p:nvPicPr>
          <p:cNvPr id="6" name="Image 0" descr="/tmp/claude-0/-home-user-Ein-Prat-work/bfe443db-e493-5438-add8-ac2e37bc83f4/scratchpad/pptx-build/icons/h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24976" y="2370125"/>
            <a:ext cx="380390" cy="38039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278728" y="3108960"/>
            <a:ext cx="5272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5E7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משמר פנימי</a:t>
            </a:r>
            <a:endParaRPr lang="en-US" sz="1900" dirty="0"/>
          </a:p>
        </p:txBody>
      </p:sp>
      <p:sp>
        <p:nvSpPr>
          <p:cNvPr id="8" name="Text 5"/>
          <p:cNvSpPr/>
          <p:nvPr/>
        </p:nvSpPr>
        <p:spPr>
          <a:xfrm>
            <a:off x="6598768" y="3657600"/>
            <a:ext cx="463280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לרוב מרצי בית, על נושא שהוא אינהרנטי לציר הלימודי.</a:t>
            </a:r>
            <a:endParaRPr lang="en-US" sz="1250" dirty="0"/>
          </a:p>
          <a:p>
            <a:pPr algn="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למשל: אריסטו עולה בקורס פילוסופיה ← משמר שלם על הגותו.</a:t>
            </a:r>
            <a:endParaRPr lang="en-US" sz="1250" dirty="0"/>
          </a:p>
          <a:p>
            <a:pPr algn="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בובר או תור הזהב בספרד עולים במחשבת ישראל ← נכנסים לעומק, עם ההקשר וההוגים של התקופה.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40080" y="1874520"/>
            <a:ext cx="5272888" cy="3017520"/>
          </a:xfrm>
          <a:prstGeom prst="roundRect">
            <a:avLst>
              <a:gd name="adj" fmla="val 2424"/>
            </a:avLst>
          </a:prstGeom>
          <a:solidFill>
            <a:srgbClr val="DEE9EF"/>
          </a:solidFill>
          <a:ln w="12700">
            <a:solidFill>
              <a:srgbClr val="3F648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2910764" y="2194560"/>
            <a:ext cx="731520" cy="731520"/>
          </a:xfrm>
          <a:prstGeom prst="ellipse">
            <a:avLst/>
          </a:prstGeom>
          <a:solidFill>
            <a:srgbClr val="3F6480"/>
          </a:solidFill>
          <a:ln/>
        </p:spPr>
      </p:sp>
      <p:pic>
        <p:nvPicPr>
          <p:cNvPr id="11" name="Image 1" descr="/tmp/claude-0/-home-user-Ein-Prat-work/bfe443db-e493-5438-add8-ac2e37bc83f4/scratchpad/pptx-build/icons/glob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6329" y="2370125"/>
            <a:ext cx="380390" cy="38039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40080" y="3108960"/>
            <a:ext cx="5272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3F64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משמר חיצוני</a:t>
            </a:r>
            <a:endParaRPr lang="en-US" sz="1900" dirty="0"/>
          </a:p>
        </p:txBody>
      </p:sp>
      <p:sp>
        <p:nvSpPr>
          <p:cNvPr id="13" name="Text 9"/>
          <p:cNvSpPr/>
          <p:nvPr/>
        </p:nvSpPr>
        <p:spPr>
          <a:xfrm>
            <a:off x="960120" y="3657600"/>
            <a:ext cx="463280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נושא שאינו בהכרח חלק מתכנית הלימודים היומיומית —</a:t>
            </a:r>
            <a:endParaRPr lang="en-US" sz="1250" dirty="0"/>
          </a:p>
          <a:p>
            <a:pPr algn="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קולנוע, אמריקה ותרבות המערב, חינוך, מערכות המדינה בישראל.</a:t>
            </a:r>
            <a:endParaRPr lang="en-US" sz="1250" dirty="0"/>
          </a:p>
          <a:p>
            <a:pPr algn="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לרוב כולל פחות מרצי בית ויותר אנשי מקצוע מבחוץ.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640080" y="5166360"/>
            <a:ext cx="10911535" cy="868680"/>
          </a:xfrm>
          <a:prstGeom prst="roundRect">
            <a:avLst>
              <a:gd name="adj" fmla="val 8421"/>
            </a:avLst>
          </a:prstGeom>
          <a:solidFill>
            <a:srgbClr val="211D16"/>
          </a:solidFill>
          <a:ln w="12700">
            <a:solidFill>
              <a:srgbClr val="E4DDCB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914400" y="5257800"/>
            <a:ext cx="103628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9A9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זו הצעה בלבד, לא חובה!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914400" y="5550408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2EA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אפשר לגמרי להביא מרצה חיצוני לנושא פנימי, או מרצה בית לנושא חיצוני. המטרה היא העמקה בתכנים — לא הקפדה נוקשה על הקטגוריה.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640080" y="64008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בניית משמר · תשפ״ז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100" kern="0" dirty="0">
                <a:solidFill>
                  <a:srgbClr val="9C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השנה שלכם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200" b="1" dirty="0">
                <a:solidFill>
                  <a:srgbClr val="3E3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כל 21 המשמרים — מי אחראי ומתי (חלק 1)</a:t>
            </a:r>
            <a:endParaRPr lang="en-US" sz="3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11535" cy="914400"/>
        </p:xfrm>
        <a:graphic>
          <a:graphicData uri="http://schemas.openxmlformats.org/drawingml/2006/table">
            <a:tbl>
              <a:tblPr/>
              <a:tblGrid>
                <a:gridCol w="3246120"/>
                <a:gridCol w="1417320"/>
                <a:gridCol w="2514600"/>
                <a:gridCol w="1600200"/>
                <a:gridCol w="914400"/>
                <a:gridCol w="1216152"/>
              </a:tblGrid>
              <a:tr h="39243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הערות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34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אחראים (placeholder)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34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תאריך עברי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34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לועזי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34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סוג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34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3426"/>
                    </a:solidFill>
                  </a:tcPr>
                </a:tc>
              </a:tr>
              <a:tr h="39243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i="1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משמר בוגרים — נבנה על ידי הצוות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צוות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כ״א אלול תשפ״ו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3.9.2026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5E7B4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פנימי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01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243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i="1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נבנה על ידי הצוות, כדוגמה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צוות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ו׳ תשרי תשפ״ז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17.9.2026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5E7B4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פנימי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02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243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חניך 2 + חניך 3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י״ג תשרי תשפ״ז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24.9.2026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3F64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חיצוני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03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243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חניך 9 + חניך 5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כ״ז תשרי תשפ״ז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8.10.2026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5E7B4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פנימי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04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243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חניך 1 + חניך 7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ד׳ חשון תשפ״ז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15.10.2026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3F64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חיצוני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05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243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חניך 10 + חניך 4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י״א חשון תשפ״ז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22.10.2026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5E7B4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פנימי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06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243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חניך 8 + חניך 6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י״ח חשון תשפ״ז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29.10.2026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3F64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חיצוני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07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243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חניך 9 + חניך 3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כ״ה חשון תשפ״ז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5.11.2026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5E7B4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פנימי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08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243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חניך 10 + חניך 2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ב׳ כסלו תשפ״ז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12.11.2026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3F64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חיצוני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09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243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חניך 8 + חניך 4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ט׳ כסלו תשפ״ז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19.11.2026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5E7B4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פנימי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243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i="1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שבוע אמצע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חניך 1 + חניך 6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ט״ז כסלו תשפ״ז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26.11.2026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3F64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חיצוני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64008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בניית משמר · תשפ״ז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100" kern="0" dirty="0">
                <a:solidFill>
                  <a:srgbClr val="9C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השנה שלכם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200" b="1" dirty="0">
                <a:solidFill>
                  <a:srgbClr val="3E3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כל 21 המשמרים — מי אחראי ומתי (חלק 2)</a:t>
            </a:r>
            <a:endParaRPr lang="en-US" sz="3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11535" cy="914400"/>
        </p:xfrm>
        <a:graphic>
          <a:graphicData uri="http://schemas.openxmlformats.org/drawingml/2006/table">
            <a:tbl>
              <a:tblPr/>
              <a:tblGrid>
                <a:gridCol w="3246120"/>
                <a:gridCol w="1417320"/>
                <a:gridCol w="2514600"/>
                <a:gridCol w="1600200"/>
                <a:gridCol w="914400"/>
                <a:gridCol w="1216152"/>
              </a:tblGrid>
              <a:tr h="4281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הערות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34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אחראים (placeholder)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34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תאריך עברי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34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לועזי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34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סוג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34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3426"/>
                    </a:solidFill>
                  </a:tcPr>
                </a:tc>
              </a:tr>
              <a:tr h="428105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חניך 7 + חניך 5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כ״ג כסלו תשפ״ז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3.12.2026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5E7B4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פנימי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8105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i="1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נר ו׳ חנוכה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חניך 8 + חניך 2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ל׳ כסלו תשפ״ז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10.12.2026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3F64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חיצוני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8105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חניך 9 + חניך 10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ז׳ טבת תשפ״ז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17.12.2026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5E7B4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פנימי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8105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i="1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לפני שבת בוגרים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חניך 1 + חניך 5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י״ד טבת תשפ״ז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24.12.2026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3F64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חיצוני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8105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חניך 6 + חניך 4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כ״ח טבת תשפ״ז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7.1.2027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5E7B4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פנימי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8105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חניך 7 + חניך 3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ו׳ שבט תשפ״ז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14.1.2027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3F64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חיצוני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8105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i="1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ט״ו בשבט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חניך 2 + חניך 9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י״ג שבט תשפ״ז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21.1.2027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5E7B4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פנימי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8105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חניך 1 + חניך 10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כ׳ שבט תשפ״ז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28.1.2027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3F64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חיצוני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8105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חניך 3 + חניך 8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כ״ז שבט תשפ״ז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4.2.2027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5E7B4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פנימי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8105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i="1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המשמר האחרון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חניך 5 + חניך 6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ד׳ אדר א׳ תשפ״ז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11.2.2027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3F64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חיצוני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64008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בניית משמר · תשפ״ז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100" kern="0" dirty="0">
                <a:solidFill>
                  <a:srgbClr val="9C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הכלי המרכזי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200" b="1" dirty="0">
                <a:solidFill>
                  <a:srgbClr val="3E3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קובץ העבודה של כל משמר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11021263" y="2281428"/>
            <a:ext cx="512064" cy="512064"/>
          </a:xfrm>
          <a:prstGeom prst="ellipse">
            <a:avLst/>
          </a:prstGeom>
          <a:solidFill>
            <a:srgbClr val="C9A961"/>
          </a:solidFill>
          <a:ln/>
        </p:spPr>
      </p:sp>
      <p:pic>
        <p:nvPicPr>
          <p:cNvPr id="5" name="Image 0" descr="/tmp/claude-0/-home-user-Ein-Prat-work/bfe443db-e493-5438-add8-ac2e37bc83f4/scratchpad/pptx-build/icons/clo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4159" y="2404323"/>
            <a:ext cx="266273" cy="26627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347308" y="1965960"/>
            <a:ext cx="456422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לוז משמר השבוע</a:t>
            </a:r>
            <a:endParaRPr lang="en-US" sz="1700" dirty="0"/>
          </a:p>
          <a:p>
            <a:pPr algn="r" indent="0" marL="0">
              <a:buNone/>
            </a:pPr>
            <a:r>
              <a:rPr lang="en-US" sz="125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שעות, מה קורה, מי מוביל כל חלק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11021263" y="3515868"/>
            <a:ext cx="512064" cy="512064"/>
          </a:xfrm>
          <a:prstGeom prst="ellipse">
            <a:avLst/>
          </a:prstGeom>
          <a:solidFill>
            <a:srgbClr val="5E7B47"/>
          </a:solidFill>
          <a:ln/>
        </p:spPr>
      </p:sp>
      <p:pic>
        <p:nvPicPr>
          <p:cNvPr id="8" name="Image 1" descr="/tmp/claude-0/-home-user-Ein-Prat-work/bfe443db-e493-5438-add8-ac2e37bc83f4/scratchpad/pptx-build/icons/mi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44159" y="3638763"/>
            <a:ext cx="266273" cy="266273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347308" y="3200400"/>
            <a:ext cx="456422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הצעות למרצים</a:t>
            </a:r>
            <a:endParaRPr lang="en-US" sz="1700" dirty="0"/>
          </a:p>
          <a:p>
            <a:pPr algn="r" indent="0" marL="0">
              <a:buNone/>
            </a:pPr>
            <a:r>
              <a:rPr lang="en-US" sz="125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סטטוס: לא פנינו ← נשלחה פנייה ← ממתין ← סגור</a:t>
            </a:r>
            <a:endParaRPr lang="en-US" sz="1700" dirty="0"/>
          </a:p>
        </p:txBody>
      </p:sp>
      <p:sp>
        <p:nvSpPr>
          <p:cNvPr id="10" name="Shape 6"/>
          <p:cNvSpPr/>
          <p:nvPr/>
        </p:nvSpPr>
        <p:spPr>
          <a:xfrm>
            <a:off x="11021263" y="4750308"/>
            <a:ext cx="512064" cy="512064"/>
          </a:xfrm>
          <a:prstGeom prst="ellipse">
            <a:avLst/>
          </a:prstGeom>
          <a:solidFill>
            <a:srgbClr val="C9A961"/>
          </a:solidFill>
          <a:ln/>
        </p:spPr>
      </p:sp>
      <p:pic>
        <p:nvPicPr>
          <p:cNvPr id="11" name="Image 2" descr="/tmp/claude-0/-home-user-Ein-Prat-work/bfe443db-e493-5438-add8-ac2e37bc83f4/scratchpad/pptx-build/icons/fileTex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44159" y="4873203"/>
            <a:ext cx="266273" cy="266273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6347308" y="4434840"/>
            <a:ext cx="456422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הצעות לטקסטים</a:t>
            </a:r>
            <a:endParaRPr lang="en-US" sz="1700" dirty="0"/>
          </a:p>
          <a:p>
            <a:pPr algn="r" indent="0" marL="0">
              <a:buNone/>
            </a:pPr>
            <a:r>
              <a:rPr lang="en-US" sz="125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מקורות לשיעורים ולחבורות</a:t>
            </a:r>
            <a:endParaRPr lang="en-US" sz="1700" dirty="0"/>
          </a:p>
        </p:txBody>
      </p:sp>
      <p:sp>
        <p:nvSpPr>
          <p:cNvPr id="13" name="Shape 8"/>
          <p:cNvSpPr/>
          <p:nvPr/>
        </p:nvSpPr>
        <p:spPr>
          <a:xfrm>
            <a:off x="5314036" y="2281428"/>
            <a:ext cx="512064" cy="512064"/>
          </a:xfrm>
          <a:prstGeom prst="ellipse">
            <a:avLst/>
          </a:prstGeom>
          <a:solidFill>
            <a:srgbClr val="5E7B47"/>
          </a:solidFill>
          <a:ln/>
        </p:spPr>
      </p:sp>
      <p:pic>
        <p:nvPicPr>
          <p:cNvPr id="14" name="Image 3" descr="/tmp/claude-0/-home-user-Ein-Prat-work/bfe443db-e493-5438-add8-ac2e37bc83f4/scratchpad/pptx-build/icons/scissor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36931" y="2404323"/>
            <a:ext cx="266273" cy="266273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640080" y="1965960"/>
            <a:ext cx="456422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קישוט ולוגיסטיקה</a:t>
            </a:r>
            <a:endParaRPr lang="en-US" sz="1700" dirty="0"/>
          </a:p>
          <a:p>
            <a:pPr algn="r" indent="0" marL="0">
              <a:buNone/>
            </a:pPr>
            <a:r>
              <a:rPr lang="en-US" sz="125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קנבה, רשימת קניות, רעיונות</a:t>
            </a:r>
            <a:endParaRPr lang="en-US" sz="1700" dirty="0"/>
          </a:p>
        </p:txBody>
      </p:sp>
      <p:sp>
        <p:nvSpPr>
          <p:cNvPr id="16" name="Shape 10"/>
          <p:cNvSpPr/>
          <p:nvPr/>
        </p:nvSpPr>
        <p:spPr>
          <a:xfrm>
            <a:off x="5314036" y="3515868"/>
            <a:ext cx="512064" cy="512064"/>
          </a:xfrm>
          <a:prstGeom prst="ellipse">
            <a:avLst/>
          </a:prstGeom>
          <a:solidFill>
            <a:srgbClr val="C9A961"/>
          </a:solidFill>
          <a:ln/>
        </p:spPr>
      </p:sp>
      <p:pic>
        <p:nvPicPr>
          <p:cNvPr id="17" name="Image 4" descr="/tmp/claude-0/-home-user-Ein-Prat-work/bfe443db-e493-5438-add8-ac2e37bc83f4/scratchpad/pptx-build/icons/checkCircl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36931" y="3638763"/>
            <a:ext cx="266273" cy="266273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640080" y="3200400"/>
            <a:ext cx="456422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משימות</a:t>
            </a:r>
            <a:endParaRPr lang="en-US" sz="1700" dirty="0"/>
          </a:p>
          <a:p>
            <a:pPr algn="r" indent="0" marL="0">
              <a:buNone/>
            </a:pPr>
            <a:r>
              <a:rPr lang="en-US" sz="125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צ׳קליסט מסודר, מי אחראי על מה</a:t>
            </a:r>
            <a:endParaRPr lang="en-US" sz="1700" dirty="0"/>
          </a:p>
        </p:txBody>
      </p:sp>
      <p:sp>
        <p:nvSpPr>
          <p:cNvPr id="19" name="Shape 12"/>
          <p:cNvSpPr/>
          <p:nvPr/>
        </p:nvSpPr>
        <p:spPr>
          <a:xfrm>
            <a:off x="640080" y="5897880"/>
            <a:ext cx="10911535" cy="594360"/>
          </a:xfrm>
          <a:prstGeom prst="roundRect">
            <a:avLst>
              <a:gd name="adj" fmla="val 12308"/>
            </a:avLst>
          </a:prstGeom>
          <a:solidFill>
            <a:srgbClr val="F5F1E6"/>
          </a:solidFill>
          <a:ln w="12700">
            <a:solidFill>
              <a:srgbClr val="E4DDCB"/>
            </a:solidFill>
            <a:prstDash val="solid"/>
          </a:ln>
        </p:spPr>
      </p:sp>
      <p:sp>
        <p:nvSpPr>
          <p:cNvPr id="20" name="Text 13"/>
          <p:cNvSpPr/>
          <p:nvPr/>
        </p:nvSpPr>
        <p:spPr>
          <a:xfrm>
            <a:off x="822960" y="5897880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משמר מקבל קובץ כזה מראש — אתם רק ממלאים.</a:t>
            </a:r>
            <a:endParaRPr lang="en-US" sz="1400" dirty="0"/>
          </a:p>
        </p:txBody>
      </p:sp>
      <p:sp>
        <p:nvSpPr>
          <p:cNvPr id="21" name="Text 14"/>
          <p:cNvSpPr/>
          <p:nvPr/>
        </p:nvSpPr>
        <p:spPr>
          <a:xfrm>
            <a:off x="640080" y="64008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בניית משמר · תשפ״ז</a:t>
            </a:r>
            <a:endParaRPr lang="en-US" sz="1000" dirty="0"/>
          </a:p>
        </p:txBody>
      </p:sp>
      <p:sp>
        <p:nvSpPr>
          <p:cNvPr id="22" name="Text 15"/>
          <p:cNvSpPr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100" kern="0" dirty="0">
                <a:solidFill>
                  <a:srgbClr val="9C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מרצים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200" b="1" dirty="0">
                <a:solidFill>
                  <a:srgbClr val="3E3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לפני שפונים — בדקו במאגר המשותף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10202875" y="2263140"/>
            <a:ext cx="868680" cy="868680"/>
          </a:xfrm>
          <a:prstGeom prst="ellipse">
            <a:avLst/>
          </a:prstGeom>
          <a:solidFill>
            <a:srgbClr val="9C917A"/>
          </a:solidFill>
          <a:ln/>
        </p:spPr>
      </p:sp>
      <p:pic>
        <p:nvPicPr>
          <p:cNvPr id="5" name="Image 0" descr="/tmp/claude-0/-home-user-Ein-Prat-work/bfe443db-e493-5438-add8-ac2e37bc83f4/scratchpad/pptx-build/icons/cir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11358" y="2471623"/>
            <a:ext cx="451714" cy="45171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448495" y="32461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פנינו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9280931" y="2468880"/>
            <a:ext cx="4418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E4DD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7932191" y="2263140"/>
            <a:ext cx="868680" cy="868680"/>
          </a:xfrm>
          <a:prstGeom prst="ellipse">
            <a:avLst/>
          </a:prstGeom>
          <a:solidFill>
            <a:srgbClr val="3F6480"/>
          </a:solidFill>
          <a:ln/>
        </p:spPr>
      </p:sp>
      <p:pic>
        <p:nvPicPr>
          <p:cNvPr id="9" name="Image 1" descr="/tmp/claude-0/-home-user-Ein-Prat-work/bfe443db-e493-5438-add8-ac2e37bc83f4/scratchpad/pptx-build/icons/sen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40675" y="2471623"/>
            <a:ext cx="451714" cy="45171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7177811" y="32461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נשלחה פנייה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7010248" y="2468880"/>
            <a:ext cx="4418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E4DD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</a:t>
            </a:r>
            <a:endParaRPr lang="en-US" sz="2200" dirty="0"/>
          </a:p>
        </p:txBody>
      </p:sp>
      <p:sp>
        <p:nvSpPr>
          <p:cNvPr id="12" name="Shape 8"/>
          <p:cNvSpPr/>
          <p:nvPr/>
        </p:nvSpPr>
        <p:spPr>
          <a:xfrm>
            <a:off x="5661508" y="2263140"/>
            <a:ext cx="868680" cy="868680"/>
          </a:xfrm>
          <a:prstGeom prst="ellipse">
            <a:avLst/>
          </a:prstGeom>
          <a:solidFill>
            <a:srgbClr val="9C7B34"/>
          </a:solidFill>
          <a:ln/>
        </p:spPr>
      </p:sp>
      <p:pic>
        <p:nvPicPr>
          <p:cNvPr id="13" name="Image 2" descr="/tmp/claude-0/-home-user-Ein-Prat-work/bfe443db-e493-5438-add8-ac2e37bc83f4/scratchpad/pptx-build/icons/clockAl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9991" y="2471623"/>
            <a:ext cx="451714" cy="45171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907128" y="32461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ממתין לתשובה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4739564" y="2468880"/>
            <a:ext cx="4418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E4DD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</a:t>
            </a:r>
            <a:endParaRPr lang="en-US" sz="2200" dirty="0"/>
          </a:p>
        </p:txBody>
      </p:sp>
      <p:sp>
        <p:nvSpPr>
          <p:cNvPr id="16" name="Shape 11"/>
          <p:cNvSpPr/>
          <p:nvPr/>
        </p:nvSpPr>
        <p:spPr>
          <a:xfrm>
            <a:off x="3390824" y="2263140"/>
            <a:ext cx="868680" cy="868680"/>
          </a:xfrm>
          <a:prstGeom prst="ellipse">
            <a:avLst/>
          </a:prstGeom>
          <a:solidFill>
            <a:srgbClr val="5E7B47"/>
          </a:solidFill>
          <a:ln/>
        </p:spPr>
      </p:sp>
      <p:pic>
        <p:nvPicPr>
          <p:cNvPr id="17" name="Image 3" descr="/tmp/claude-0/-home-user-Ein-Prat-work/bfe443db-e493-5438-add8-ac2e37bc83f4/scratchpad/pptx-build/icons/checkCircl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99307" y="2471623"/>
            <a:ext cx="451714" cy="451714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2636444" y="32461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סגור</a:t>
            </a:r>
            <a:endParaRPr lang="en-US" sz="1400" dirty="0"/>
          </a:p>
        </p:txBody>
      </p:sp>
      <p:sp>
        <p:nvSpPr>
          <p:cNvPr id="19" name="Text 13"/>
          <p:cNvSpPr/>
          <p:nvPr/>
        </p:nvSpPr>
        <p:spPr>
          <a:xfrm>
            <a:off x="2468880" y="2468880"/>
            <a:ext cx="4418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E4DD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</a:t>
            </a:r>
            <a:endParaRPr lang="en-US" sz="2200" dirty="0"/>
          </a:p>
        </p:txBody>
      </p:sp>
      <p:sp>
        <p:nvSpPr>
          <p:cNvPr id="20" name="Shape 14"/>
          <p:cNvSpPr/>
          <p:nvPr/>
        </p:nvSpPr>
        <p:spPr>
          <a:xfrm>
            <a:off x="1120140" y="2263140"/>
            <a:ext cx="868680" cy="868680"/>
          </a:xfrm>
          <a:prstGeom prst="ellipse">
            <a:avLst/>
          </a:prstGeom>
          <a:solidFill>
            <a:srgbClr val="B0554A"/>
          </a:solidFill>
          <a:ln/>
        </p:spPr>
      </p:sp>
      <p:pic>
        <p:nvPicPr>
          <p:cNvPr id="21" name="Image 4" descr="/tmp/claude-0/-home-user-Ein-Prat-work/bfe443db-e493-5438-add8-ac2e37bc83f4/scratchpad/pptx-build/icons/xCircl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28623" y="2471623"/>
            <a:ext cx="451714" cy="451714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365760" y="32461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יכול/ה</a:t>
            </a:r>
            <a:endParaRPr lang="en-US" sz="1400" dirty="0"/>
          </a:p>
        </p:txBody>
      </p:sp>
      <p:sp>
        <p:nvSpPr>
          <p:cNvPr id="23" name="Shape 16"/>
          <p:cNvSpPr/>
          <p:nvPr/>
        </p:nvSpPr>
        <p:spPr>
          <a:xfrm>
            <a:off x="640080" y="4069080"/>
            <a:ext cx="10911535" cy="1371600"/>
          </a:xfrm>
          <a:prstGeom prst="roundRect">
            <a:avLst>
              <a:gd name="adj" fmla="val 5333"/>
            </a:avLst>
          </a:prstGeom>
          <a:solidFill>
            <a:srgbClr val="211D16"/>
          </a:solidFill>
          <a:ln w="12700">
            <a:solidFill>
              <a:srgbClr val="E4DDCB"/>
            </a:solidFill>
            <a:prstDash val="solid"/>
          </a:ln>
        </p:spPr>
      </p:sp>
      <p:sp>
        <p:nvSpPr>
          <p:cNvPr id="24" name="Shape 17"/>
          <p:cNvSpPr/>
          <p:nvPr/>
        </p:nvSpPr>
        <p:spPr>
          <a:xfrm>
            <a:off x="982980" y="4411980"/>
            <a:ext cx="685800" cy="685800"/>
          </a:xfrm>
          <a:prstGeom prst="ellipse">
            <a:avLst/>
          </a:prstGeom>
          <a:solidFill>
            <a:srgbClr val="C9A961"/>
          </a:solidFill>
          <a:ln/>
        </p:spPr>
      </p:sp>
      <p:pic>
        <p:nvPicPr>
          <p:cNvPr id="25" name="Image 5" descr="/tmp/claude-0/-home-user-Ein-Prat-work/bfe443db-e493-5438-add8-ac2e37bc83f4/scratchpad/pptx-build/icons/users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7572" y="4576572"/>
            <a:ext cx="356616" cy="356616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2011680" y="4069080"/>
            <a:ext cx="9174175" cy="137160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C9A9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המאגר המשותף — קובץ אחד לכל הצוותים
</a:t>
            </a:r>
            <a:endParaRPr lang="en-US" sz="1600" dirty="0"/>
          </a:p>
          <a:p>
            <a:pPr algn="r" indent="0" marL="0">
              <a:buNone/>
            </a:pPr>
            <a:r>
              <a:rPr lang="en-US" sz="1300" dirty="0">
                <a:solidFill>
                  <a:srgbClr val="F2EA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המטרה היא לעזור לכולם להישאר מסודרים: לשתף מידע אחד עם השני, ולמנוע כפילויות וטעויות. כל פנייה למרצה — גם סירוב — נרשמת שם, כדי שכל צוות ידע מה כבר קרה לפני שהוא פונה בעצמו.</a:t>
            </a:r>
            <a:endParaRPr lang="en-US" sz="1600" dirty="0"/>
          </a:p>
        </p:txBody>
      </p:sp>
      <p:sp>
        <p:nvSpPr>
          <p:cNvPr id="27" name="Text 19"/>
          <p:cNvSpPr/>
          <p:nvPr/>
        </p:nvSpPr>
        <p:spPr>
          <a:xfrm>
            <a:off x="640080" y="64008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בניית משמר · תשפ״ז</a:t>
            </a:r>
            <a:endParaRPr lang="en-US" sz="1000" dirty="0"/>
          </a:p>
        </p:txBody>
      </p:sp>
      <p:sp>
        <p:nvSpPr>
          <p:cNvPr id="28" name="Text 20"/>
          <p:cNvSpPr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100" kern="0" dirty="0">
                <a:solidFill>
                  <a:srgbClr val="9C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הפרטים הקטנים · 1/2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200" b="1" dirty="0">
                <a:solidFill>
                  <a:srgbClr val="3E3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קישוט ואווירה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9029471" y="1965960"/>
            <a:ext cx="2522144" cy="1005840"/>
          </a:xfrm>
          <a:prstGeom prst="roundRect">
            <a:avLst>
              <a:gd name="adj" fmla="val 10909"/>
            </a:avLst>
          </a:prstGeom>
          <a:solidFill>
            <a:srgbClr val="E7EEDF"/>
          </a:solidFill>
          <a:ln w="12700">
            <a:solidFill>
              <a:srgbClr val="5E7B4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39199" y="1965960"/>
            <a:ext cx="23026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E7B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קרפ אדום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233008" y="1965960"/>
            <a:ext cx="2522144" cy="1005840"/>
          </a:xfrm>
          <a:prstGeom prst="roundRect">
            <a:avLst>
              <a:gd name="adj" fmla="val 10909"/>
            </a:avLst>
          </a:prstGeom>
          <a:solidFill>
            <a:srgbClr val="E7EEDF"/>
          </a:solidFill>
          <a:ln w="12700">
            <a:solidFill>
              <a:srgbClr val="5E7B4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342736" y="1965960"/>
            <a:ext cx="23026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E7B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בריסטולים צבעוניים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436544" y="1965960"/>
            <a:ext cx="2522144" cy="1005840"/>
          </a:xfrm>
          <a:prstGeom prst="roundRect">
            <a:avLst>
              <a:gd name="adj" fmla="val 10909"/>
            </a:avLst>
          </a:prstGeom>
          <a:solidFill>
            <a:srgbClr val="E7EEDF"/>
          </a:solidFill>
          <a:ln w="12700">
            <a:solidFill>
              <a:srgbClr val="5E7B4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46272" y="1965960"/>
            <a:ext cx="23026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E7B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נרות זכרון וענפי זית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1965960"/>
            <a:ext cx="2522144" cy="1005840"/>
          </a:xfrm>
          <a:prstGeom prst="roundRect">
            <a:avLst>
              <a:gd name="adj" fmla="val 10909"/>
            </a:avLst>
          </a:prstGeom>
          <a:solidFill>
            <a:srgbClr val="E7EEDF"/>
          </a:solidFill>
          <a:ln w="12700">
            <a:solidFill>
              <a:srgbClr val="5E7B4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49808" y="1965960"/>
            <a:ext cx="23026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E7B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נייר רץ (דפים גדולים)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9029471" y="3291840"/>
            <a:ext cx="2522144" cy="1005840"/>
          </a:xfrm>
          <a:prstGeom prst="roundRect">
            <a:avLst>
              <a:gd name="adj" fmla="val 10909"/>
            </a:avLst>
          </a:prstGeom>
          <a:solidFill>
            <a:srgbClr val="E7EEDF"/>
          </a:solidFill>
          <a:ln w="12700">
            <a:solidFill>
              <a:srgbClr val="5E7B4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39199" y="3291840"/>
            <a:ext cx="23026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E7B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גואש ומכחולים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233008" y="3291840"/>
            <a:ext cx="2522144" cy="1005840"/>
          </a:xfrm>
          <a:prstGeom prst="roundRect">
            <a:avLst>
              <a:gd name="adj" fmla="val 10909"/>
            </a:avLst>
          </a:prstGeom>
          <a:solidFill>
            <a:srgbClr val="E7EEDF"/>
          </a:solidFill>
          <a:ln w="12700">
            <a:solidFill>
              <a:srgbClr val="5E7B4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42736" y="3291840"/>
            <a:ext cx="23026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E7B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אותיות וסמלים לפי הנושא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436544" y="3291840"/>
            <a:ext cx="2522144" cy="1005840"/>
          </a:xfrm>
          <a:prstGeom prst="roundRect">
            <a:avLst>
              <a:gd name="adj" fmla="val 10909"/>
            </a:avLst>
          </a:prstGeom>
          <a:solidFill>
            <a:srgbClr val="E7EEDF"/>
          </a:solidFill>
          <a:ln w="12700">
            <a:solidFill>
              <a:srgbClr val="5E7B4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546272" y="3291840"/>
            <a:ext cx="23026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E7B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שולחן עם פריטים אישיים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40080" y="3291840"/>
            <a:ext cx="2522144" cy="1005840"/>
          </a:xfrm>
          <a:prstGeom prst="roundRect">
            <a:avLst>
              <a:gd name="adj" fmla="val 10909"/>
            </a:avLst>
          </a:prstGeom>
          <a:solidFill>
            <a:srgbClr val="E7EEDF"/>
          </a:solidFill>
          <a:ln w="12700">
            <a:solidFill>
              <a:srgbClr val="5E7B4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49808" y="3291840"/>
            <a:ext cx="23026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E7B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תמונות וציטוטים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40080" y="475488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rgbClr val="9C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תמיד כדאי שהקישוט יתקשר לנושא הספציפי של הלילה — לא סתם "יפה".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40080" y="64008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בניית משמר · תשפ״ז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100" kern="0" dirty="0">
                <a:solidFill>
                  <a:srgbClr val="9C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הפרטים הקטנים · 2/2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200" b="1" dirty="0">
                <a:solidFill>
                  <a:srgbClr val="3E3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כיבוד וארוחות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278728" y="1828800"/>
            <a:ext cx="5272888" cy="352044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 w="12700">
            <a:solidFill>
              <a:srgbClr val="E4DDC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526551" y="2217420"/>
            <a:ext cx="777240" cy="777240"/>
          </a:xfrm>
          <a:prstGeom prst="ellipse">
            <a:avLst/>
          </a:prstGeom>
          <a:solidFill>
            <a:srgbClr val="C9A961"/>
          </a:solidFill>
          <a:ln/>
        </p:spPr>
      </p:sp>
      <p:pic>
        <p:nvPicPr>
          <p:cNvPr id="6" name="Image 0" descr="/tmp/claude-0/-home-user-Ein-Prat-work/bfe443db-e493-5438-add8-ac2e37bc83f4/scratchpad/pptx-build/icons/cupcak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13089" y="2403958"/>
            <a:ext cx="404165" cy="40416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278728" y="3200400"/>
            <a:ext cx="5272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E3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כיבוד קבוע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6598768" y="3794760"/>
            <a:ext cx="463280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בכל הפסקה — משהו קטן לאכול ולשתות. זה נראה מובן מאליו, אבל מישהו צריך לזכור לקנות אותו.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640080" y="1828800"/>
            <a:ext cx="5272888" cy="352044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 w="12700">
            <a:solidFill>
              <a:srgbClr val="E4DDC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2887904" y="2217420"/>
            <a:ext cx="777240" cy="777240"/>
          </a:xfrm>
          <a:prstGeom prst="ellipse">
            <a:avLst/>
          </a:prstGeom>
          <a:solidFill>
            <a:srgbClr val="5E7B47"/>
          </a:solidFill>
          <a:ln/>
        </p:spPr>
      </p:sp>
      <p:pic>
        <p:nvPicPr>
          <p:cNvPr id="11" name="Image 1" descr="/tmp/claude-0/-home-user-Ein-Prat-work/bfe443db-e493-5438-add8-ac2e37bc83f4/scratchpad/pptx-build/icons/partyPopp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4441" y="2403958"/>
            <a:ext cx="404165" cy="404165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40080" y="3200400"/>
            <a:ext cx="5272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E3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לפעמים — ארוחת ערב בנושא</a:t>
            </a:r>
            <a:endParaRPr lang="en-US" sz="1800" dirty="0"/>
          </a:p>
        </p:txBody>
      </p:sp>
      <p:sp>
        <p:nvSpPr>
          <p:cNvPr id="13" name="Text 9"/>
          <p:cNvSpPr/>
          <p:nvPr/>
        </p:nvSpPr>
        <p:spPr>
          <a:xfrm>
            <a:off x="960120" y="3794760"/>
            <a:ext cx="463280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דוגמה אמיתית: משמר פילוסופיית המזרח נחתם בארוחת ערב בנושא "פוקי בול". זה לא חובה, אבל כשזה מתאים — זה עושה המון.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40080" y="5623560"/>
            <a:ext cx="10911535" cy="502920"/>
          </a:xfrm>
          <a:prstGeom prst="roundRect">
            <a:avLst>
              <a:gd name="adj" fmla="val 14545"/>
            </a:avLst>
          </a:prstGeom>
          <a:solidFill>
            <a:srgbClr val="211D16"/>
          </a:solidFill>
          <a:ln w="12700">
            <a:solidFill>
              <a:srgbClr val="E4DDCB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822960" y="5623560"/>
            <a:ext cx="1054577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F2EA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מישהו אחד אחראי על רשימת הקניות — כתוב את זה בקובץ העבודה, לא רק בראש.</a:t>
            </a:r>
            <a:endParaRPr lang="en-US" sz="1350" dirty="0"/>
          </a:p>
        </p:txBody>
      </p:sp>
      <p:sp>
        <p:nvSpPr>
          <p:cNvPr id="16" name="Text 12"/>
          <p:cNvSpPr/>
          <p:nvPr/>
        </p:nvSpPr>
        <p:spPr>
          <a:xfrm>
            <a:off x="640080" y="64008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בניית משמר · תשפ״ז</a:t>
            </a:r>
            <a:endParaRPr lang="en-US" sz="1000" dirty="0"/>
          </a:p>
        </p:txBody>
      </p:sp>
      <p:sp>
        <p:nvSpPr>
          <p:cNvPr id="17" name="Text 13"/>
          <p:cNvSpPr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100" kern="0" dirty="0">
                <a:solidFill>
                  <a:srgbClr val="9C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המלצה — לא חוק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200" b="1" dirty="0">
                <a:solidFill>
                  <a:srgbClr val="3E3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מתי כדאי לסגור מה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9768535" y="2286000"/>
            <a:ext cx="1188720" cy="1188720"/>
          </a:xfrm>
          <a:prstGeom prst="ellipse">
            <a:avLst/>
          </a:prstGeom>
          <a:solidFill>
            <a:srgbClr val="3F6480"/>
          </a:solidFill>
          <a:ln/>
        </p:spPr>
      </p:sp>
      <p:pic>
        <p:nvPicPr>
          <p:cNvPr id="5" name="Image 0" descr="/tmp/claude-0/-home-user-Ein-Prat-work/bfe443db-e493-5438-add8-ac2e37bc83f4/scratchpad/pptx-build/icons/targ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3828" y="2571293"/>
            <a:ext cx="618134" cy="61813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899855" y="36576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עד 3 שבועות לפני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8899855" y="406908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3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הנושא סגור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8706917" y="2651760"/>
            <a:ext cx="4672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E4DD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6923837" y="2286000"/>
            <a:ext cx="1188720" cy="1188720"/>
          </a:xfrm>
          <a:prstGeom prst="ellipse">
            <a:avLst/>
          </a:prstGeom>
          <a:solidFill>
            <a:srgbClr val="5E7B47"/>
          </a:solidFill>
          <a:ln/>
        </p:spPr>
      </p:sp>
      <p:pic>
        <p:nvPicPr>
          <p:cNvPr id="10" name="Image 1" descr="/tmp/claude-0/-home-user-Ein-Prat-work/bfe443db-e493-5438-add8-ac2e37bc83f4/scratchpad/pptx-build/icons/mi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9130" y="2571293"/>
            <a:ext cx="618134" cy="61813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055157" y="36576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עד שבועיים לפני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6055157" y="406908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3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מרצים סגורים</a:t>
            </a:r>
            <a:endParaRPr lang="en-US" sz="2000" dirty="0"/>
          </a:p>
        </p:txBody>
      </p:sp>
      <p:sp>
        <p:nvSpPr>
          <p:cNvPr id="13" name="Text 9"/>
          <p:cNvSpPr/>
          <p:nvPr/>
        </p:nvSpPr>
        <p:spPr>
          <a:xfrm>
            <a:off x="5862218" y="2651760"/>
            <a:ext cx="4672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E4DD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</a:t>
            </a:r>
            <a:endParaRPr lang="en-US" sz="2600" dirty="0"/>
          </a:p>
        </p:txBody>
      </p:sp>
      <p:sp>
        <p:nvSpPr>
          <p:cNvPr id="14" name="Shape 10"/>
          <p:cNvSpPr/>
          <p:nvPr/>
        </p:nvSpPr>
        <p:spPr>
          <a:xfrm>
            <a:off x="4079138" y="2286000"/>
            <a:ext cx="1188720" cy="1188720"/>
          </a:xfrm>
          <a:prstGeom prst="ellipse">
            <a:avLst/>
          </a:prstGeom>
          <a:solidFill>
            <a:srgbClr val="C9A961"/>
          </a:solidFill>
          <a:ln/>
        </p:spPr>
      </p:sp>
      <p:pic>
        <p:nvPicPr>
          <p:cNvPr id="15" name="Image 2" descr="/tmp/claude-0/-home-user-Ein-Prat-work/bfe443db-e493-5438-add8-ac2e37bc83f4/scratchpad/pptx-build/icons/edi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4431" y="2571293"/>
            <a:ext cx="618134" cy="618134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3210458" y="36576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עד שבוע לפני</a:t>
            </a:r>
            <a:endParaRPr lang="en-US" sz="1350" dirty="0"/>
          </a:p>
        </p:txBody>
      </p:sp>
      <p:sp>
        <p:nvSpPr>
          <p:cNvPr id="17" name="Text 12"/>
          <p:cNvSpPr/>
          <p:nvPr/>
        </p:nvSpPr>
        <p:spPr>
          <a:xfrm>
            <a:off x="3210458" y="406908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3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קישוט + הזמנה</a:t>
            </a:r>
            <a:endParaRPr lang="en-US" sz="2000" dirty="0"/>
          </a:p>
        </p:txBody>
      </p:sp>
      <p:sp>
        <p:nvSpPr>
          <p:cNvPr id="18" name="Text 13"/>
          <p:cNvSpPr/>
          <p:nvPr/>
        </p:nvSpPr>
        <p:spPr>
          <a:xfrm>
            <a:off x="3017520" y="2651760"/>
            <a:ext cx="4672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E4DD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</a:t>
            </a:r>
            <a:endParaRPr lang="en-US" sz="2600" dirty="0"/>
          </a:p>
        </p:txBody>
      </p:sp>
      <p:sp>
        <p:nvSpPr>
          <p:cNvPr id="19" name="Shape 14"/>
          <p:cNvSpPr/>
          <p:nvPr/>
        </p:nvSpPr>
        <p:spPr>
          <a:xfrm>
            <a:off x="1234440" y="2286000"/>
            <a:ext cx="1188720" cy="1188720"/>
          </a:xfrm>
          <a:prstGeom prst="ellipse">
            <a:avLst/>
          </a:prstGeom>
          <a:solidFill>
            <a:srgbClr val="9C7B34"/>
          </a:solidFill>
          <a:ln/>
        </p:spPr>
      </p:sp>
      <p:pic>
        <p:nvPicPr>
          <p:cNvPr id="20" name="Image 3" descr="/tmp/claude-0/-home-user-Ein-Prat-work/bfe443db-e493-5438-add8-ac2e37bc83f4/scratchpad/pptx-build/icons/sta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19733" y="2571293"/>
            <a:ext cx="618134" cy="618134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365760" y="36576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ביום המשמר</a:t>
            </a:r>
            <a:endParaRPr lang="en-US" sz="1350" dirty="0"/>
          </a:p>
        </p:txBody>
      </p:sp>
      <p:sp>
        <p:nvSpPr>
          <p:cNvPr id="22" name="Text 16"/>
          <p:cNvSpPr/>
          <p:nvPr/>
        </p:nvSpPr>
        <p:spPr>
          <a:xfrm>
            <a:off x="365760" y="406908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3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מריצים</a:t>
            </a:r>
            <a:endParaRPr lang="en-US" sz="2000" dirty="0"/>
          </a:p>
        </p:txBody>
      </p:sp>
      <p:sp>
        <p:nvSpPr>
          <p:cNvPr id="23" name="Shape 17"/>
          <p:cNvSpPr/>
          <p:nvPr/>
        </p:nvSpPr>
        <p:spPr>
          <a:xfrm>
            <a:off x="640080" y="5212080"/>
            <a:ext cx="10911535" cy="777240"/>
          </a:xfrm>
          <a:prstGeom prst="roundRect">
            <a:avLst>
              <a:gd name="adj" fmla="val 9412"/>
            </a:avLst>
          </a:prstGeom>
          <a:solidFill>
            <a:srgbClr val="F5F1E6"/>
          </a:solidFill>
          <a:ln w="12700">
            <a:solidFill>
              <a:srgbClr val="E4DDCB"/>
            </a:solidFill>
            <a:prstDash val="solid"/>
          </a:ln>
        </p:spPr>
      </p:sp>
      <p:sp>
        <p:nvSpPr>
          <p:cNvPr id="24" name="Text 18"/>
          <p:cNvSpPr/>
          <p:nvPr/>
        </p:nvSpPr>
        <p:spPr>
          <a:xfrm>
            <a:off x="914400" y="5212080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זו המלצה שמבוססת על קצב סביר, לא כלל נוקשה. תתאימו לפי מה שעובד לכם.</a:t>
            </a:r>
            <a:endParaRPr lang="en-US" sz="1400" dirty="0"/>
          </a:p>
        </p:txBody>
      </p:sp>
      <p:sp>
        <p:nvSpPr>
          <p:cNvPr id="25" name="Text 19"/>
          <p:cNvSpPr/>
          <p:nvPr/>
        </p:nvSpPr>
        <p:spPr>
          <a:xfrm>
            <a:off x="640080" y="64008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בניית משמר · תשפ״ז</a:t>
            </a:r>
            <a:endParaRPr lang="en-US" sz="1000" dirty="0"/>
          </a:p>
        </p:txBody>
      </p:sp>
      <p:sp>
        <p:nvSpPr>
          <p:cNvPr id="26" name="Text 20"/>
          <p:cNvSpPr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11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286000" y="3200400"/>
            <a:ext cx="6400800" cy="6400800"/>
          </a:xfrm>
          <a:prstGeom prst="ellipse">
            <a:avLst/>
          </a:prstGeom>
          <a:solidFill>
            <a:srgbClr val="2B2519"/>
          </a:solidFill>
          <a:ln/>
        </p:spPr>
      </p:sp>
      <p:sp>
        <p:nvSpPr>
          <p:cNvPr id="3" name="Shape 1"/>
          <p:cNvSpPr/>
          <p:nvPr/>
        </p:nvSpPr>
        <p:spPr>
          <a:xfrm>
            <a:off x="5501488" y="1143000"/>
            <a:ext cx="1188720" cy="1188720"/>
          </a:xfrm>
          <a:prstGeom prst="ellipse">
            <a:avLst/>
          </a:prstGeom>
          <a:solidFill>
            <a:srgbClr val="C9A961"/>
          </a:solidFill>
          <a:ln/>
        </p:spPr>
      </p:sp>
      <p:pic>
        <p:nvPicPr>
          <p:cNvPr id="4" name="Image 0" descr="/tmp/claude-0/-home-user-Ein-Prat-work/bfe443db-e493-5438-add8-ac2e37bc83f4/scratchpad/pptx-build/icons/aw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86780" y="1428293"/>
            <a:ext cx="618134" cy="61813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26060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9A9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לפני שמתחילים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640080" y="29718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המשמר הראשון (17.9) נבנה עבורכם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2103120" y="3977640"/>
            <a:ext cx="798545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D9CF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כדי שיהיה לכם זמן להתארגן ולהיכנס לעניינים, ובמקביל שתהיה לכם דוגמה ברמה גבוהה ללמוד ממנה — המשמר הראשון אחרי משמר בוגרים ייבנה בשבילכם. תראו קובץ עבודה מלא, מקצה לקצה — ואז זה התור שלכם.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40080" y="64008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בניית משמר · תשפ״ז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211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194560"/>
            <a:ext cx="6400800" cy="6400800"/>
          </a:xfrm>
          <a:prstGeom prst="ellipse">
            <a:avLst/>
          </a:prstGeom>
          <a:solidFill>
            <a:srgbClr val="2B2519"/>
          </a:solidFill>
          <a:ln/>
        </p:spPr>
      </p:sp>
      <p:pic>
        <p:nvPicPr>
          <p:cNvPr id="3" name="Image 0" descr="/tmp/claude-0/-home-user-Ein-Prat-work/bfe443db-e493-5438-add8-ac2e37bc83f4/scratchpad/pptx-build/logo-go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10048" y="1965960"/>
            <a:ext cx="1371600" cy="13716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C9A9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בהצלחה!</a:t>
            </a:r>
            <a:endParaRPr lang="en-US" sz="4400" dirty="0"/>
          </a:p>
        </p:txBody>
      </p:sp>
      <p:sp>
        <p:nvSpPr>
          <p:cNvPr id="5" name="Text 2"/>
          <p:cNvSpPr/>
          <p:nvPr/>
        </p:nvSpPr>
        <p:spPr>
          <a:xfrm>
            <a:off x="640080" y="452628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2EA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שאלות בדרך? פנו לצוות בכל שלב.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21792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C91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מדרשת עין פרת — האקדמיה למנהיגות חברתית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2026-08-19T20:38:18Z</dcterms:created>
  <dcterms:modified xsi:type="dcterms:W3CDTF">2026-08-19T20:38:18Z</dcterms:modified>
</cp:coreProperties>
</file>