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68580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69748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בניית משמר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פתיחה לצוותי המשמרים · תשפ״ז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6035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נעבור היום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m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משמר — ולמה הוא בנוי ככה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8" name="Image 1" descr="/tmp/claude-0/-home-user-Ein-Prat-work/bfe443db-e493-5438-add8-ac2e37bc83f4/scratchpad/pptx-build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משמר נבנה בפועל — וזה גמיש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 פנימי מול משמר חיצוני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4" name="Image 3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47308" y="502920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השיבוץ שלכם ל-21 המשמרים של השנה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187452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העבודה — איך מתעדים הכל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0" name="Image 5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40080" y="292608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קישוט, כיבוד וכל הפרטים הקטנים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3" name="Image 6" descr="/tmp/claude-0/-home-user-Ein-Prat-work/bfe443db-e493-5438-add8-ac2e37bc83f4/scratchpad/pptx-build/icons/calend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40080" y="3977640"/>
            <a:ext cx="45642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זמנים ומה קורה עכשיו</a:t>
            </a:r>
            <a:endParaRPr lang="en-US" sz="1700" dirty="0"/>
          </a:p>
        </p:txBody>
      </p:sp>
      <p:sp>
        <p:nvSpPr>
          <p:cNvPr id="25" name="Text 16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הבסיס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זה משמר?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05311" y="2093976"/>
            <a:ext cx="91440" cy="9144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5" name="Text 3"/>
          <p:cNvSpPr/>
          <p:nvPr/>
        </p:nvSpPr>
        <p:spPr>
          <a:xfrm>
            <a:off x="4846320" y="1965960"/>
            <a:ext cx="6385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ליל חמישי — פעם בשבוע עד שבועיים, לאורך כל השנה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405311" y="2871216"/>
            <a:ext cx="91440" cy="9144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2743200"/>
            <a:ext cx="6385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קבוצה מעורבת: דתיים וחילונים, אחרי צבא / שנת מכינה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405311" y="3648456"/>
            <a:ext cx="91440" cy="9144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3520440"/>
            <a:ext cx="6385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סדרת הרצאות — לילה אחד, מסע אחד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1405311" y="4425696"/>
            <a:ext cx="91440" cy="91440"/>
          </a:xfrm>
          <a:prstGeom prst="ellipse">
            <a:avLst/>
          </a:prstGeom>
          <a:solidFill>
            <a:srgbClr val="C9A961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4297680"/>
            <a:ext cx="6385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חניכים אחראים על כל משמר (לפעמים יותר מאחד לאורך השנה)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1965960"/>
            <a:ext cx="3840480" cy="3931920"/>
          </a:xfrm>
          <a:prstGeom prst="roundRect">
            <a:avLst>
              <a:gd name="adj" fmla="val 1905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/tmp/claude-0/-home-user-Ein-Prat-work/bfe443db-e493-5438-add8-ac2e37bc83f4/scratchpad/pptx-build/icons/mo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2331720"/>
            <a:ext cx="731520" cy="7315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40080" y="3291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20:30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40080" y="3794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4114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02:00+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64008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(משתנה ממשמר למשמר)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השראה — לא נוסחה נוקשה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מלוגוס לפאתוס: קשת האנרגיה של הלילה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063761" y="1965960"/>
            <a:ext cx="2487854" cy="3291840"/>
          </a:xfrm>
          <a:prstGeom prst="roundRect">
            <a:avLst>
              <a:gd name="adj" fmla="val 2940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19068" y="2491740"/>
            <a:ext cx="777240" cy="77724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6" name="Image 0" descr="/tmp/claude-0/-home-user-Ein-Prat-work/bfe443db-e493-5438-add8-ac2e37bc83f4/scratchpad/pptx-build/icons/book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5606" y="26782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48695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73489" y="3474720"/>
            <a:ext cx="2268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היסודות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200921" y="4114800"/>
            <a:ext cx="22135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שכל, עובדות, "קר"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55868" y="1965960"/>
            <a:ext cx="2487854" cy="3291840"/>
          </a:xfrm>
          <a:prstGeom prst="roundRect">
            <a:avLst>
              <a:gd name="adj" fmla="val 2940"/>
            </a:avLst>
          </a:prstGeom>
          <a:solidFill>
            <a:srgbClr val="E4E6EF"/>
          </a:solidFill>
          <a:ln w="12700">
            <a:solidFill>
              <a:srgbClr val="5B6E8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11175" y="2491740"/>
            <a:ext cx="777240" cy="777240"/>
          </a:xfrm>
          <a:prstGeom prst="ellipse">
            <a:avLst/>
          </a:prstGeom>
          <a:solidFill>
            <a:srgbClr val="5B6E8C"/>
          </a:solidFill>
          <a:ln/>
        </p:spPr>
      </p:sp>
      <p:pic>
        <p:nvPicPr>
          <p:cNvPr id="12" name="Image 1" descr="/tmp/claude-0/-home-user-Ein-Prat-work/bfe443db-e493-5438-add8-ac2e37bc83f4/scratchpad/pptx-build/icons/alert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7712" y="267827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40801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365596" y="3474720"/>
            <a:ext cx="2268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העומק והערעור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393028" y="4114800"/>
            <a:ext cx="22135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הדילמה המרכזית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447974" y="1965960"/>
            <a:ext cx="2487854" cy="3291840"/>
          </a:xfrm>
          <a:prstGeom prst="roundRect">
            <a:avLst>
              <a:gd name="adj" fmla="val 2940"/>
            </a:avLst>
          </a:prstGeom>
          <a:solidFill>
            <a:srgbClr val="F1E7D6"/>
          </a:solidFill>
          <a:ln w="12700">
            <a:solidFill>
              <a:srgbClr val="9C7B4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303281" y="2491740"/>
            <a:ext cx="777240" cy="777240"/>
          </a:xfrm>
          <a:prstGeom prst="ellipse">
            <a:avLst/>
          </a:prstGeom>
          <a:solidFill>
            <a:srgbClr val="9C7B4F"/>
          </a:solidFill>
          <a:ln/>
        </p:spPr>
      </p:sp>
      <p:pic>
        <p:nvPicPr>
          <p:cNvPr id="18" name="Image 2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818" y="2678278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43290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7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3557702" y="3474720"/>
            <a:ext cx="2268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הזווית המפתיעה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3585134" y="4114800"/>
            <a:ext cx="22135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אמנות · פסיכולוגיה · חברה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1965960"/>
            <a:ext cx="2487854" cy="3291840"/>
          </a:xfrm>
          <a:prstGeom prst="roundRect">
            <a:avLst>
              <a:gd name="adj" fmla="val 2940"/>
            </a:avLst>
          </a:prstGeom>
          <a:solidFill>
            <a:srgbClr val="F3E9D2"/>
          </a:solidFill>
          <a:ln w="12700">
            <a:solidFill>
              <a:srgbClr val="9C7B3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495387" y="2491740"/>
            <a:ext cx="777240" cy="77724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4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1925" y="2678278"/>
            <a:ext cx="404165" cy="40416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2625014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C7B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49808" y="3474720"/>
            <a:ext cx="22683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נחיתה אל הלב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777240" y="4114800"/>
            <a:ext cx="22135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רגש, אינטימיות, "חבורה"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40080" y="553212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553212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כלי השראה למבנה הרעיוני של הלילה — לא נוסחה שחייבים לעקוב אחריה. הסלייד הבא מראה איך זה נראה בפועל.</a:t>
            </a:r>
            <a:endParaRPr lang="en-US" sz="1350" dirty="0"/>
          </a:p>
        </p:txBody>
      </p:sp>
      <p:sp>
        <p:nvSpPr>
          <p:cNvPr id="30" name="Text 24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מהארכיון של שנה שעברה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לא חייב להיראות ככה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8277" y="192024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66326" y="230886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6" name="Image 0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2864" y="24953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341157" y="329184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אלול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386877" y="3886200"/>
            <a:ext cx="29361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שיעורים ברצף (20:30–2:00) ואז חבורות בטקסט עד 3:30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92024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07228" y="230886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1" name="Image 1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765" y="24953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82058" y="329184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יום הזכרון (7/10)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27778" y="3886200"/>
            <a:ext cx="29361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 ממלכתי ← מעגל שירים וסיפורי גבורה ← סיפור מורשת קרב ← חבורות רשות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192024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948129" y="230886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6" name="Image 2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667" y="249539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" y="3291840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פילוסופיית המזרח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68680" y="3886200"/>
            <a:ext cx="29361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שיעורים + ארוחת ערב בנושא "פוקי בול" + קישוט תמטי (קרפ אדום, סמלים סיניים)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תבנו את הלילה שמתאים לנושא שלכם — לא את התבנית.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התהליך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איך בונים משמר — משלב לשלב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22144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00055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347308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 נושא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התקופה בשנה, התוכנית, וההשראה שלכם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1021263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273003"/>
            <a:ext cx="266273" cy="2662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00055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347308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קובעים לוז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מקטעים, אילו הפסקות, מתי חבורות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11021263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3" name="Image 2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324563"/>
            <a:ext cx="266273" cy="2662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00055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6347308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מחפשים מרצים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בודקים במאגר המשותף, פונים, סוגרים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1021263" y="525322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7" name="Image 3" descr="/tmp/claude-0/-home-user-Ein-Prat-work/bfe443db-e493-5438-add8-ac2e37bc83f4/scratchpad/pptx-build/icons/he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159" y="5376123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00055" y="502920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6347308" y="502920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בונים סיום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חבורות / טד / כתיבה / דיבייט — תמיד אינטראקטיבי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314036" y="209854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1" name="Image 4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2221443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92828" y="187452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640080" y="187452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מתכננים תפאורה וכיבוד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ראו את שני הסליידים הבאים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314036" y="3150108"/>
            <a:ext cx="512064" cy="512064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25" name="Image 5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931" y="3273003"/>
            <a:ext cx="266273" cy="266273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792828" y="292608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640080" y="292608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מעצבים ומפיצים הזמנה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+ תמונה, או רקע קיים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314036" y="42016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29" name="Image 6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931" y="4324563"/>
            <a:ext cx="266273" cy="266273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792828" y="3977640"/>
            <a:ext cx="457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4DD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31" name="Text 22"/>
          <p:cNvSpPr/>
          <p:nvPr/>
        </p:nvSpPr>
        <p:spPr>
          <a:xfrm>
            <a:off x="640080" y="3977640"/>
            <a:ext cx="37869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מריצים את הלילה</a:t>
            </a:r>
            <a:endParaRPr lang="en-US" sz="15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ואז — סיכום ולקחים לשנה הבאה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33" name="Text 2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כיוון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 או משמר חיצוני?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49411" y="2194560"/>
            <a:ext cx="731520" cy="7315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6" name="Image 0" descr="/tmp/claude-0/-home-user-Ein-Prat-work/bfe443db-e493-5438-add8-ac2e37bc83f4/scratchpad/pptx-build/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4976" y="237012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E7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פנימי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598768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מרצי בית, על נושא שהוא אינהרנטי לציר הלימודי.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למשל: אריסטו עולה בקורס פילוסופיה ← משמר שלם על הגותו.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בובר או תור הזהב בספרד עולים במחשבת ישראל ← נכנסים לעומק, עם ההקשר וההוגים של התקופה.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1874520"/>
            <a:ext cx="5272888" cy="3017520"/>
          </a:xfrm>
          <a:prstGeom prst="roundRect">
            <a:avLst>
              <a:gd name="adj" fmla="val 2424"/>
            </a:avLst>
          </a:prstGeom>
          <a:solidFill>
            <a:srgbClr val="DEE9EF"/>
          </a:solidFill>
          <a:ln w="12700">
            <a:solidFill>
              <a:srgbClr val="3F648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910764" y="2194560"/>
            <a:ext cx="731520" cy="7315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11" name="Image 1" descr="/tmp/claude-0/-home-user-Ein-Prat-work/bfe443db-e493-5438-add8-ac2e37bc83f4/scratchpad/pptx-build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329" y="2370125"/>
            <a:ext cx="380390" cy="3803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10896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F6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משמר חיצוני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960120" y="3657600"/>
            <a:ext cx="4632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 שאינו בהכרח חלק מתכנית הלימודים היומיומית —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קולנוע, אמריקה ותרבות המערב, חינוך, מערכות המדינה בישראל.</a:t>
            </a:r>
            <a:endParaRPr lang="en-US" sz="12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 כולל פחות מרצי בית ויותר אנשי מקצוע מבחוץ.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516636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14400" y="525780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זו הצעה בלבד, לא חובה!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914400" y="555040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לגמרי להביא מרצה חיצוני לנושא פנימי, או מרצה בית לנושא חיצוני. המטרה היא העמקה בתכנים — לא הקפדה נוקשה על הקטגוריה.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1)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3924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 (placeholder)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משמר בוגרים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10 + חניך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כ״א אלול תשפ״ו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2 + חניך 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3 + חניך 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9 + חניך 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תשרי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6 + חניך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י״א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7 + חניך 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י״ח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29.10.2026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כ״ה חשון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5 + חניך 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8 + חניך 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24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שבוע אמצע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4 + חניך 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ט״ז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26.11.2026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השנה שלכם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 21 המשמרים — מי אחראי ומתי (חלק 2)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417320"/>
                <a:gridCol w="2514600"/>
                <a:gridCol w="1600200"/>
                <a:gridCol w="914400"/>
                <a:gridCol w="1216152"/>
              </a:tblGrid>
              <a:tr h="4281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אחראים (placeholder)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תאריך עברי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לועזי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3426"/>
                    </a:solidFill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5 + חניך 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כ״ג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נר ו׳ חנוכה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ל׳ כסלו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6 + חניך 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ז׳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לפני שבת בוגרים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7 + חניך 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י״ד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24.12.2026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4 + חניך 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כ״ח טבת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3 + חניך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ט״ו בשבט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10 + חניך 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י״ג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1 + חניך 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כ׳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28.1.2027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2 + חניך 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כ״ז שבט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E7B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105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i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המשמר האחרון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חניך 8 + חניך 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ד׳ אדר א׳ תשפ״ז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E34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11.2.2027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F64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חיצוני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6E62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המרכזי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קובץ העבודה של כל משמר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021263" y="228142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5" name="Image 0" descr="/tmp/claude-0/-home-user-Ein-Prat-work/bfe443db-e493-5438-add8-ac2e37bc83f4/scratchpad/pptx-build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159" y="2404323"/>
            <a:ext cx="266273" cy="2662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47308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לוז משמר השבוע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שעות, מה קורה, מי מוביל כל חלק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1021263" y="351586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8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159" y="3638763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47308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הצעות למרצים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סטטוס: לא פנינו ← נשלחה פנייה ← ממתין ← סגור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11021263" y="475030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1" name="Image 2" descr="/tmp/claude-0/-home-user-Ein-Prat-work/bfe443db-e493-5438-add8-ac2e37bc83f4/scratchpad/pptx-build/icons/fileTex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4159" y="4873203"/>
            <a:ext cx="266273" cy="2662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347308" y="443484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הצעות לטקסטים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 לשיעורים ולחבורות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314036" y="2281428"/>
            <a:ext cx="512064" cy="512064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4" name="Image 3" descr="/tmp/claude-0/-home-user-Ein-Prat-work/bfe443db-e493-5438-add8-ac2e37bc83f4/scratchpad/pptx-build/icons/scisso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931" y="2404323"/>
            <a:ext cx="266273" cy="26627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0080" y="196596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קישוט ולוגיסטיקה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קנבה, רשימת קניות, רעיונות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314036" y="3515868"/>
            <a:ext cx="512064" cy="512064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7" name="Image 4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931" y="3638763"/>
            <a:ext cx="266273" cy="26627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320040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</a:t>
            </a:r>
            <a:endParaRPr lang="en-US" sz="1700" dirty="0"/>
          </a:p>
          <a:p>
            <a:pPr algn="r" indent="0" marL="0">
              <a:buNone/>
            </a:pPr>
            <a:r>
              <a:rPr lang="en-US" sz="12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צ׳קליסט מסודר, מי אחראי על מה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640080" y="589788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822960" y="58978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משמר מקבל קובץ כזה מראש — אתם רק ממלאים.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מרצים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לפני שפונים — בדקו במאגר המשותף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202875" y="2263140"/>
            <a:ext cx="868680" cy="868680"/>
          </a:xfrm>
          <a:prstGeom prst="ellipse">
            <a:avLst/>
          </a:prstGeom>
          <a:solidFill>
            <a:srgbClr val="9C917A"/>
          </a:solidFill>
          <a:ln/>
        </p:spPr>
      </p:sp>
      <p:pic>
        <p:nvPicPr>
          <p:cNvPr id="5" name="Image 0" descr="/tmp/claude-0/-home-user-Ein-Prat-work/bfe443db-e493-5438-add8-ac2e37bc83f4/scratchpad/pptx-build/icons/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1358" y="2471623"/>
            <a:ext cx="451714" cy="4517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48495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פנינו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0931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932191" y="2263140"/>
            <a:ext cx="868680" cy="86868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9" name="Image 1" descr="/tmp/claude-0/-home-user-Ein-Prat-work/bfe443db-e493-5438-add8-ac2e37bc83f4/scratchpad/pptx-build/icons/s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675" y="2471623"/>
            <a:ext cx="451714" cy="45171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77811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נשלחה פנייה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010248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661508" y="2263140"/>
            <a:ext cx="868680" cy="86868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13" name="Image 2" descr="/tmp/claude-0/-home-user-Ein-Prat-work/bfe443db-e493-5438-add8-ac2e37bc83f4/scratchpad/pptx-build/icons/clock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991" y="2471623"/>
            <a:ext cx="451714" cy="45171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07128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ממתין לתשובה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739564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3390824" y="2263140"/>
            <a:ext cx="868680" cy="86868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7" name="Image 3" descr="/tmp/claude-0/-home-user-Ein-Prat-work/bfe443db-e493-5438-add8-ac2e37bc83f4/scratchpad/pptx-build/icons/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307" y="2471623"/>
            <a:ext cx="451714" cy="4517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636444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סגור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2468880" y="2468880"/>
            <a:ext cx="4418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1120140" y="2263140"/>
            <a:ext cx="868680" cy="868680"/>
          </a:xfrm>
          <a:prstGeom prst="ellipse">
            <a:avLst/>
          </a:prstGeom>
          <a:solidFill>
            <a:srgbClr val="B0554A"/>
          </a:solidFill>
          <a:ln/>
        </p:spPr>
      </p:sp>
      <p:pic>
        <p:nvPicPr>
          <p:cNvPr id="21" name="Image 4" descr="/tmp/claude-0/-home-user-Ein-Prat-work/bfe443db-e493-5438-add8-ac2e37bc83f4/scratchpad/pptx-build/icons/x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8623" y="2471623"/>
            <a:ext cx="451714" cy="45171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65760" y="3246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3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יכול/ה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40080" y="406908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982980" y="4411980"/>
            <a:ext cx="685800" cy="68580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25" name="Image 5" descr="/tmp/claude-0/-home-user-Ein-Prat-work/bfe443db-e493-5438-add8-ac2e37bc83f4/scratchpad/pptx-build/icons/us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7572" y="4576572"/>
            <a:ext cx="356616" cy="35661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011680" y="4069080"/>
            <a:ext cx="9174175" cy="13716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המאגר המשותף — למה זה חשוב
</a:t>
            </a:r>
            <a:endParaRPr lang="en-US" sz="16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21 משמרים ו-10 חניכים שמחפשים מרצים במקביל, זה הדבר שהכי קל שיישבר: שני זוגות פונים לאותו אדם בלי לדעת. כל פנייה — גם סירוב — נרשמת במאגר המשותף לכל השנה.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1/2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ואווירה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029471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39199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קרפ אדום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3008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42736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בריסטולים צבעוניים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36544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6272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נרות זכרון וענפי זית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96596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96596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נייר רץ (דפים גדולים)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29471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39199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גואש ומכחולים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אותיות וסמלים לפי הנושא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36544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6272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שולחן עם פריטים אישיים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522144" cy="1005840"/>
          </a:xfrm>
          <a:prstGeom prst="roundRect">
            <a:avLst>
              <a:gd name="adj" fmla="val 10909"/>
            </a:avLst>
          </a:prstGeom>
          <a:solidFill>
            <a:srgbClr val="E7EEDF"/>
          </a:solidFill>
          <a:ln w="12700">
            <a:solidFill>
              <a:srgbClr val="5E7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291840"/>
            <a:ext cx="2302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7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תמונות וציטוטים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כדאי שהקישוט יתקשר לנושא הספציפי של הלילה — לא סתם "יפה".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הפרטים הקטנים · 2/2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וארוחות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78728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26551" y="2217420"/>
            <a:ext cx="777240" cy="77724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6" name="Image 0" descr="/tmp/claude-0/-home-user-Ein-Prat-work/bfe443db-e493-5438-add8-ac2e37bc83f4/scratchpad/pptx-build/icons/cupc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3089" y="24039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78728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כיבוד קבוע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98768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בכל הפסקה — משהו קטן לאכול ולשתות. זה נראה מובן מאליו, אבל מישהו צריך לזכור לקנות אותו.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182880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4DD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87904" y="2217420"/>
            <a:ext cx="777240" cy="77724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1" name="Image 1" descr="/tmp/claude-0/-home-user-Ein-Prat-work/bfe443db-e493-5438-add8-ac2e37bc83f4/scratchpad/pptx-build/icons/partyPop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441" y="240395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" y="320040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לפעמים — ארוחת ערב בנושא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960120" y="3794760"/>
            <a:ext cx="4632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אמיתית: משמר פילוסופיית המזרח נחתם בארוחת ערב בנושא "פוקי בול". זה לא חובה, אבל כשזה מתאים — זה עושה המון.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5623560"/>
            <a:ext cx="10911535" cy="502920"/>
          </a:xfrm>
          <a:prstGeom prst="roundRect">
            <a:avLst>
              <a:gd name="adj" fmla="val 14545"/>
            </a:avLst>
          </a:prstGeom>
          <a:solidFill>
            <a:srgbClr val="211D1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56235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מישהו אחד אחראי על רשימת הקניות — כתוב את זה בקובץ העבודה, לא רק בראש.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9C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המלצה — לא חוק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מתי כדאי לסגור מה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768535" y="2286000"/>
            <a:ext cx="1188720" cy="1188720"/>
          </a:xfrm>
          <a:prstGeom prst="ellipse">
            <a:avLst/>
          </a:prstGeom>
          <a:solidFill>
            <a:srgbClr val="3F6480"/>
          </a:solidFill>
          <a:ln/>
        </p:spPr>
      </p:sp>
      <p:pic>
        <p:nvPicPr>
          <p:cNvPr id="5" name="Image 0" descr="/tmp/claude-0/-home-user-Ein-Prat-work/bfe443db-e493-5438-add8-ac2e37bc83f4/scratchpad/pptx-build/icon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828" y="2571293"/>
            <a:ext cx="618134" cy="6181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99855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3 שבועות לפני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899855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הנושא סגור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06917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23837" y="2286000"/>
            <a:ext cx="1188720" cy="1188720"/>
          </a:xfrm>
          <a:prstGeom prst="ellipse">
            <a:avLst/>
          </a:prstGeom>
          <a:solidFill>
            <a:srgbClr val="5E7B47"/>
          </a:solidFill>
          <a:ln/>
        </p:spPr>
      </p:sp>
      <p:pic>
        <p:nvPicPr>
          <p:cNvPr id="10" name="Image 1" descr="/tmp/claude-0/-home-user-Ein-Prat-work/bfe443db-e493-5438-add8-ac2e37bc83f4/scratchpad/pptx-build/icons/m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130" y="2571293"/>
            <a:ext cx="618134" cy="6181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55157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שבועיים לפני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55157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מרצים סגורים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862218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4" name="Shape 10"/>
          <p:cNvSpPr/>
          <p:nvPr/>
        </p:nvSpPr>
        <p:spPr>
          <a:xfrm>
            <a:off x="4079138" y="2286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15" name="Image 2" descr="/tmp/claude-0/-home-user-Ein-Prat-work/bfe443db-e493-5438-add8-ac2e37bc83f4/scratchpad/pptx-build/icons/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4431" y="257129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210458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שבוע לפני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210458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קישוט + הזמנה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3017520" y="2651760"/>
            <a:ext cx="467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4DD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1234440" y="2286000"/>
            <a:ext cx="1188720" cy="1188720"/>
          </a:xfrm>
          <a:prstGeom prst="ellipse">
            <a:avLst/>
          </a:prstGeom>
          <a:solidFill>
            <a:srgbClr val="9C7B34"/>
          </a:solidFill>
          <a:ln/>
        </p:spPr>
      </p:sp>
      <p:pic>
        <p:nvPicPr>
          <p:cNvPr id="20" name="Image 3" descr="/tmp/claude-0/-home-user-Ein-Prat-work/bfe443db-e493-5438-add8-ac2e37bc83f4/scratchpad/pptx-build/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733" y="2571293"/>
            <a:ext cx="618134" cy="6181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65760" y="3657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ביום המשמר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365760" y="4069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3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מריצים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5F1E6"/>
          </a:solidFill>
          <a:ln w="12700">
            <a:solidFill>
              <a:srgbClr val="E4DDC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914400" y="52120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המלצה שמבוססת על קצב סביר, לא כלל נוקשה. תתאימו לפי מה שעובד לכם.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143000"/>
            <a:ext cx="1188720" cy="1188720"/>
          </a:xfrm>
          <a:prstGeom prst="ellipse">
            <a:avLst/>
          </a:prstGeom>
          <a:solidFill>
            <a:srgbClr val="C9A961"/>
          </a:solidFill>
          <a:ln/>
        </p:spPr>
      </p:sp>
      <p:pic>
        <p:nvPicPr>
          <p:cNvPr id="4" name="Image 0" descr="/tmp/claude-0/-home-user-Ein-Prat-work/bfe443db-e493-5438-add8-ac2e37bc83f4/scratchpad/pptx-build/icon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6780" y="1428293"/>
            <a:ext cx="618134" cy="61813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606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9718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המשמר הראשון (17.9) נבנה עבורכם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2103120" y="3977640"/>
            <a:ext cx="79854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C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שיהיה לכם זמן להתארגן ולהיכנס לעניינים, ובמקביל שתהיה לכם דוגמה ברמה גבוהה ללמוד ממנה — המשמר הראשון אחרי משמר בוגרים ייבנה בשבילכם. תראו קובץ עבודה מלא, מקצה לקצה — ואז זה התור שלכם.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6400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 משמר · תשפ״ז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2B2519"/>
          </a:solidFill>
          <a:ln/>
        </p:spPr>
      </p:sp>
      <p:pic>
        <p:nvPicPr>
          <p:cNvPr id="3" name="Image 0" descr="/tmp/claude-0/-home-user-Ein-Prat-work/bfe443db-e493-5438-add8-ac2e37bc83f4/scratchpad/pptx-build/logo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048" y="196596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בהצלחה!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4526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EA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בדרך? פנו לצוות בכל שלב.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217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9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מדרשת עין פרת — האקדמיה למנהיגות חברתית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2026-08-18T11:05:51Z</dcterms:created>
  <dcterms:modified xsi:type="dcterms:W3CDTF">2026-08-18T11:05:51Z</dcterms:modified>
</cp:coreProperties>
</file>