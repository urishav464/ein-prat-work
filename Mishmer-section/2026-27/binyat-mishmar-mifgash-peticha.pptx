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7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2" r:id="rId23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  <Relationship Id="rId23" Type="http://schemas.openxmlformats.org/officeDocument/2006/relationships/slide" Target="slides/slide17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image" Target="../media/image-17-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1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6400800" cy="6400800"/>
          </a:xfrm>
          <a:prstGeom prst="ellipse">
            <a:avLst/>
          </a:prstGeom>
          <a:solidFill>
            <a:srgbClr val="2B2519"/>
          </a:solidFill>
          <a:ln/>
        </p:spPr>
      </p:sp>
      <p:pic>
        <p:nvPicPr>
          <p:cNvPr id="3" name="Image 0" descr="/tmp/claude-0/-home-user-Ein-Prat-work/bfe443db-e493-5438-add8-ac2e37bc83f4/scratchpad/pptx-build/logo-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7168" y="685800"/>
            <a:ext cx="1737360" cy="1737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69748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בניית משמר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914400" y="361188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2EA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מדריך פתיחה לצוותי המשמרים · תשפ״ז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914400" y="60350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9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מדרשת עין פרת — האקדמיה למנהיגות חברתית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 היום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מה נעבור היום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021263" y="209854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5" name="Image 0" descr="/tmp/claude-0/-home-user-Ein-Prat-work/bfe443db-e493-5438-add8-ac2e37bc83f4/scratchpad/pptx-build/icons/mo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4159" y="2221443"/>
            <a:ext cx="266273" cy="26627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47308" y="1874520"/>
            <a:ext cx="45642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משמר — ולמה הוא בנוי ככה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11021263" y="315010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8" name="Image 1" descr="/tmp/claude-0/-home-user-Ein-Prat-work/bfe443db-e493-5438-add8-ac2e37bc83f4/scratchpad/pptx-build/icons/lay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4159" y="3273003"/>
            <a:ext cx="266273" cy="26627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47308" y="2926080"/>
            <a:ext cx="45642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משמר נבנה בפועל — וזה גמיש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11021263" y="420166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11" name="Image 2" descr="/tmp/claude-0/-home-user-Ein-Prat-work/bfe443db-e493-5438-add8-ac2e37bc83f4/scratchpad/pptx-build/icons/glo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4159" y="4324563"/>
            <a:ext cx="266273" cy="26627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347308" y="3977640"/>
            <a:ext cx="45642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משמר פנימי מול משמר חיצוני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11021263" y="525322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14" name="Image 3" descr="/tmp/claude-0/-home-user-Ein-Prat-work/bfe443db-e493-5438-add8-ac2e37bc83f4/scratchpad/pptx-build/icons/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4159" y="5376123"/>
            <a:ext cx="266273" cy="266273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347308" y="5029200"/>
            <a:ext cx="45642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השיבוץ שלכם ל-21 המשמרים של השנה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5314036" y="209854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17" name="Image 4" descr="/tmp/claude-0/-home-user-Ein-Prat-work/bfe443db-e493-5438-add8-ac2e37bc83f4/scratchpad/pptx-build/icons/fileTex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6931" y="2221443"/>
            <a:ext cx="266273" cy="266273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40080" y="1874520"/>
            <a:ext cx="45642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האפליקציה — הבית של כל משמר</a:t>
            </a:r>
            <a:endParaRPr lang="en-US" sz="1700" dirty="0"/>
          </a:p>
        </p:txBody>
      </p:sp>
      <p:sp>
        <p:nvSpPr>
          <p:cNvPr id="19" name="Shape 12"/>
          <p:cNvSpPr/>
          <p:nvPr/>
        </p:nvSpPr>
        <p:spPr>
          <a:xfrm>
            <a:off x="5314036" y="315010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20" name="Image 5" descr="/tmp/claude-0/-home-user-Ein-Prat-work/bfe443db-e493-5438-add8-ac2e37bc83f4/scratchpad/pptx-build/icons/cupcak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6931" y="3273003"/>
            <a:ext cx="266273" cy="266273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40080" y="2926080"/>
            <a:ext cx="45642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קישוט, כיבוד וכל הפרטים הקטנים</a:t>
            </a:r>
            <a:endParaRPr lang="en-US" sz="1700" dirty="0"/>
          </a:p>
        </p:txBody>
      </p:sp>
      <p:sp>
        <p:nvSpPr>
          <p:cNvPr id="22" name="Shape 14"/>
          <p:cNvSpPr/>
          <p:nvPr/>
        </p:nvSpPr>
        <p:spPr>
          <a:xfrm>
            <a:off x="5314036" y="420166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23" name="Image 6" descr="/tmp/claude-0/-home-user-Ein-Prat-work/bfe443db-e493-5438-add8-ac2e37bc83f4/scratchpad/pptx-build/icons/calenda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36931" y="4324563"/>
            <a:ext cx="266273" cy="266273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640080" y="3977640"/>
            <a:ext cx="45642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לוח זמנים ומה קורה עכשיו</a:t>
            </a:r>
            <a:endParaRPr lang="en-US" sz="1700" dirty="0"/>
          </a:p>
        </p:txBody>
      </p:sp>
      <p:sp>
        <p:nvSpPr>
          <p:cNvPr id="25" name="Text 16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26" name="Text 17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המהות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מה זה משמר?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278728" y="1874520"/>
            <a:ext cx="5272888" cy="1965960"/>
          </a:xfrm>
          <a:prstGeom prst="roundRect">
            <a:avLst>
              <a:gd name="adj" fmla="val 3721"/>
            </a:avLst>
          </a:prstGeom>
          <a:solidFill>
            <a:srgbClr val="F5F1E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477195" y="2125980"/>
            <a:ext cx="777240" cy="777240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6" name="Image 0" descr="/tmp/claude-0/-home-user-Ein-Prat-work/bfe443db-e493-5438-add8-ac2e37bc83f4/scratchpad/pptx-build/icons/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3733" y="231251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53048" y="2130552"/>
            <a:ext cx="40384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לילה של העמקה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553048" y="2834640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עוד שיעור — צלילה שלמה לתוך נושא אחד, הרבה מעבר למה שנלמד ביום-יום.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40080" y="1874520"/>
            <a:ext cx="5272888" cy="1965960"/>
          </a:xfrm>
          <a:prstGeom prst="roundRect">
            <a:avLst>
              <a:gd name="adj" fmla="val 3721"/>
            </a:avLst>
          </a:prstGeom>
          <a:solidFill>
            <a:srgbClr val="F5F1E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838548" y="2125980"/>
            <a:ext cx="777240" cy="777240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11" name="Image 1" descr="/tmp/claude-0/-home-user-Ein-Prat-work/bfe443db-e493-5438-add8-ac2e37bc83f4/scratchpad/pptx-build/icons/book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5085" y="231251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14400" y="2130552"/>
            <a:ext cx="40384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עומק חדש בתכנים מוכרים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914400" y="2834640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הזדמנות לחזור אל מה שכבר נלמד בשיעורים הרגילים, ולגלות בו רבדים שלא נחשפו שם.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78728" y="4160520"/>
            <a:ext cx="5272888" cy="1965960"/>
          </a:xfrm>
          <a:prstGeom prst="roundRect">
            <a:avLst>
              <a:gd name="adj" fmla="val 3721"/>
            </a:avLst>
          </a:prstGeom>
          <a:solidFill>
            <a:srgbClr val="F5F1E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10477195" y="4411980"/>
            <a:ext cx="777240" cy="777240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16" name="Image 2" descr="/tmp/claude-0/-home-user-Ein-Prat-work/bfe443db-e493-5438-add8-ac2e37bc83f4/scratchpad/pptx-build/icons/edi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733" y="4598518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553048" y="4416552"/>
            <a:ext cx="40384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כולו בידיים שלכם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553048" y="5120640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מהרעיון ועד לרגע האחרון בלילה — הבנייה של המשמר היא באחריותכם המלאה.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40080" y="4160520"/>
            <a:ext cx="5272888" cy="1965960"/>
          </a:xfrm>
          <a:prstGeom prst="roundRect">
            <a:avLst>
              <a:gd name="adj" fmla="val 3721"/>
            </a:avLst>
          </a:prstGeom>
          <a:solidFill>
            <a:srgbClr val="F5F1E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838548" y="4411980"/>
            <a:ext cx="777240" cy="777240"/>
          </a:xfrm>
          <a:prstGeom prst="ellipse">
            <a:avLst/>
          </a:prstGeom>
          <a:solidFill>
            <a:srgbClr val="9C7B34"/>
          </a:solidFill>
          <a:ln/>
        </p:spPr>
      </p:sp>
      <p:pic>
        <p:nvPicPr>
          <p:cNvPr id="21" name="Image 3" descr="/tmp/claude-0/-home-user-Ein-Prat-work/bfe443db-e493-5438-add8-ac2e37bc83f4/scratchpad/pptx-build/icons/aw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5085" y="4598518"/>
            <a:ext cx="404165" cy="40416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4400" y="4416552"/>
            <a:ext cx="40384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הזדמנות אמיתית להשפיע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914400" y="5120640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משמר טוב לא רק מעשיר את מי שנמצא בו — הוא מעלה את רמת הלמידה של המדרשה כולה.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מסגרת השראה — לא נוסחה נוקשה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מלוגוס לפאתוס: קשת האנרגיה של הלילה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278728" y="1828800"/>
            <a:ext cx="5272888" cy="2011680"/>
          </a:xfrm>
          <a:prstGeom prst="roundRect">
            <a:avLst>
              <a:gd name="adj" fmla="val 3636"/>
            </a:avLst>
          </a:prstGeom>
          <a:solidFill>
            <a:srgbClr val="DEE9EF"/>
          </a:solidFill>
          <a:ln w="12700">
            <a:solidFill>
              <a:srgbClr val="3F648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655503" y="2066544"/>
            <a:ext cx="658368" cy="658368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6" name="Image 0" descr="/tmp/claude-0/-home-user-Ein-Prat-work/bfe443db-e493-5438-add8-ac2e37bc83f4/scratchpad/pptx-build/icons/book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13512" y="2224552"/>
            <a:ext cx="342351" cy="3423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15888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64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553048" y="2029968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היסודות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6553048" y="25420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3F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אנרגיה:  </a:t>
            </a:r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חדה, אקדמית, קרה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553048" y="2880360"/>
            <a:ext cx="47242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3F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 </a:t>
            </a:r>
            <a:pPr algn="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לבסס עובדות, הקשר ההיסטורי וההגדרות — לפזר את הערפל לפני שצוללים לעומק.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0080" y="1828800"/>
            <a:ext cx="5272888" cy="2011680"/>
          </a:xfrm>
          <a:prstGeom prst="roundRect">
            <a:avLst>
              <a:gd name="adj" fmla="val 3636"/>
            </a:avLst>
          </a:prstGeom>
          <a:solidFill>
            <a:srgbClr val="E4E6EF"/>
          </a:solidFill>
          <a:ln w="12700">
            <a:solidFill>
              <a:srgbClr val="5B6E8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016856" y="2066544"/>
            <a:ext cx="658368" cy="658368"/>
          </a:xfrm>
          <a:prstGeom prst="ellipse">
            <a:avLst/>
          </a:prstGeom>
          <a:solidFill>
            <a:srgbClr val="5B6E8C"/>
          </a:solidFill>
          <a:ln/>
        </p:spPr>
      </p:sp>
      <p:pic>
        <p:nvPicPr>
          <p:cNvPr id="13" name="Image 1" descr="/tmp/claude-0/-home-user-Ein-Prat-work/bfe443db-e493-5438-add8-ac2e37bc83f4/scratchpad/pptx-build/icons/alert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4864" y="2224552"/>
            <a:ext cx="342351" cy="34235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77240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E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914400" y="2029968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העומק והערעור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914400" y="25420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B6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אנרגיה:  </a:t>
            </a:r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פילוסופית, מתוחה, עמוקה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14400" y="2880360"/>
            <a:ext cx="47242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5B6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 </a:t>
            </a:r>
            <a:pPr algn="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לפרק את היסודות ולהעלות את הדילמה המרכזית — למה הנושא הזה בכלל נפיץ?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278728" y="4114800"/>
            <a:ext cx="5272888" cy="2011680"/>
          </a:xfrm>
          <a:prstGeom prst="roundRect">
            <a:avLst>
              <a:gd name="adj" fmla="val 3636"/>
            </a:avLst>
          </a:prstGeom>
          <a:solidFill>
            <a:srgbClr val="F1E7D6"/>
          </a:solidFill>
          <a:ln w="12700">
            <a:solidFill>
              <a:srgbClr val="9C7B4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10655503" y="4352544"/>
            <a:ext cx="658368" cy="658368"/>
          </a:xfrm>
          <a:prstGeom prst="ellipse">
            <a:avLst/>
          </a:prstGeom>
          <a:solidFill>
            <a:srgbClr val="9C7B4F"/>
          </a:solidFill>
          <a:ln/>
        </p:spPr>
      </p:sp>
      <p:pic>
        <p:nvPicPr>
          <p:cNvPr id="20" name="Image 2" descr="/tmp/claude-0/-home-user-Ein-Prat-work/bfe443db-e493-5438-add8-ac2e37bc83f4/scratchpad/pptx-build/icons/s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13512" y="4510552"/>
            <a:ext cx="342351" cy="342351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15888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7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6553048" y="4315968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הזווית המפתיעה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6553048" y="48280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9C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אנרגיה:  </a:t>
            </a:r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מפתיעה, מחברת בין תחומים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6553048" y="5166360"/>
            <a:ext cx="47242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C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 </a:t>
            </a:r>
            <a:pPr algn="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להסתכל על הנושא מזווית חדשה לגמרי — אמנות, פסיכולוגיה, סוציולוגיה, קולנוע.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640080" y="4114800"/>
            <a:ext cx="5272888" cy="2011680"/>
          </a:xfrm>
          <a:prstGeom prst="roundRect">
            <a:avLst>
              <a:gd name="adj" fmla="val 3636"/>
            </a:avLst>
          </a:prstGeom>
          <a:solidFill>
            <a:srgbClr val="F3E9D2"/>
          </a:solidFill>
          <a:ln w="12700">
            <a:solidFill>
              <a:srgbClr val="9C7B3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5016856" y="4352544"/>
            <a:ext cx="658368" cy="658368"/>
          </a:xfrm>
          <a:prstGeom prst="ellipse">
            <a:avLst/>
          </a:prstGeom>
          <a:solidFill>
            <a:srgbClr val="9C7B34"/>
          </a:solidFill>
          <a:ln/>
        </p:spPr>
      </p:sp>
      <p:pic>
        <p:nvPicPr>
          <p:cNvPr id="27" name="Image 3" descr="/tmp/claude-0/-home-user-Ein-Prat-work/bfe443db-e493-5438-add8-ac2e37bc83f4/scratchpad/pptx-build/icons/he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4864" y="4510552"/>
            <a:ext cx="342351" cy="342351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77240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7B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3"/>
          <p:cNvSpPr/>
          <p:nvPr/>
        </p:nvSpPr>
        <p:spPr>
          <a:xfrm>
            <a:off x="914400" y="4315968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נחיתה אל הלב</a:t>
            </a:r>
            <a:endParaRPr lang="en-US" sz="1700" dirty="0"/>
          </a:p>
        </p:txBody>
      </p:sp>
      <p:sp>
        <p:nvSpPr>
          <p:cNvPr id="30" name="Text 24"/>
          <p:cNvSpPr/>
          <p:nvPr/>
        </p:nvSpPr>
        <p:spPr>
          <a:xfrm>
            <a:off x="914400" y="48280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אנרגיה:  </a:t>
            </a:r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אינטימית, קיומית, פתוחה</a:t>
            </a:r>
            <a:endParaRPr lang="en-US" sz="1250" dirty="0"/>
          </a:p>
        </p:txBody>
      </p:sp>
      <p:sp>
        <p:nvSpPr>
          <p:cNvPr id="31" name="Text 25"/>
          <p:cNvSpPr/>
          <p:nvPr/>
        </p:nvSpPr>
        <p:spPr>
          <a:xfrm>
            <a:off x="914400" y="5166360"/>
            <a:ext cx="47242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 </a:t>
            </a:r>
            <a:pPr algn="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לגעת ברלוונטיות האישית — "איפה זה פוגש אותי?" נחיתה רכה לתוך הלילה.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האפשרויות שלכם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בוחרים רכיבים — לא ממלאים תבנית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278728" y="1828800"/>
            <a:ext cx="5272888" cy="2011680"/>
          </a:xfrm>
          <a:prstGeom prst="roundRect">
            <a:avLst>
              <a:gd name="adj" fmla="val 3636"/>
            </a:avLst>
          </a:prstGeom>
          <a:solidFill>
            <a:srgbClr val="DEE9EF"/>
          </a:solidFill>
          <a:ln w="12700">
            <a:solidFill>
              <a:srgbClr val="3F648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737799" y="1975104"/>
            <a:ext cx="621792" cy="621792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6" name="Image 0" descr="/tmp/claude-0/-home-user-Ein-Prat-work/bfe443db-e493-5438-add8-ac2e37bc83f4/scratchpad/pptx-build/icons/s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7029" y="2124334"/>
            <a:ext cx="323332" cy="3233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07328" y="2011680"/>
            <a:ext cx="4267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5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פתיחה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11167567" y="2679192"/>
            <a:ext cx="73152" cy="73152"/>
          </a:xfrm>
          <a:prstGeom prst="ellipse">
            <a:avLst/>
          </a:prstGeom>
          <a:solidFill>
            <a:srgbClr val="3F6480"/>
          </a:solidFill>
          <a:ln/>
        </p:spPr>
      </p:sp>
      <p:sp>
        <p:nvSpPr>
          <p:cNvPr id="9" name="Text 6"/>
          <p:cNvSpPr/>
          <p:nvPr/>
        </p:nvSpPr>
        <p:spPr>
          <a:xfrm>
            <a:off x="6507328" y="2560320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ראשון רגיל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11167567" y="2971800"/>
            <a:ext cx="73152" cy="73152"/>
          </a:xfrm>
          <a:prstGeom prst="ellipse">
            <a:avLst/>
          </a:prstGeom>
          <a:solidFill>
            <a:srgbClr val="3F6480"/>
          </a:solidFill>
          <a:ln/>
        </p:spPr>
      </p:sp>
      <p:sp>
        <p:nvSpPr>
          <p:cNvPr id="11" name="Text 8"/>
          <p:cNvSpPr/>
          <p:nvPr/>
        </p:nvSpPr>
        <p:spPr>
          <a:xfrm>
            <a:off x="6507328" y="2852928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טקס ממלכתי (כמו ליום הזכרון)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1167567" y="3264408"/>
            <a:ext cx="73152" cy="73152"/>
          </a:xfrm>
          <a:prstGeom prst="ellipse">
            <a:avLst/>
          </a:prstGeom>
          <a:solidFill>
            <a:srgbClr val="3F6480"/>
          </a:solidFill>
          <a:ln/>
        </p:spPr>
      </p:sp>
      <p:sp>
        <p:nvSpPr>
          <p:cNvPr id="13" name="Text 10"/>
          <p:cNvSpPr/>
          <p:nvPr/>
        </p:nvSpPr>
        <p:spPr>
          <a:xfrm>
            <a:off x="6507328" y="3145536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הרצאת אורח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11167567" y="3557016"/>
            <a:ext cx="73152" cy="73152"/>
          </a:xfrm>
          <a:prstGeom prst="ellipse">
            <a:avLst/>
          </a:prstGeom>
          <a:solidFill>
            <a:srgbClr val="3F6480"/>
          </a:solidFill>
          <a:ln/>
        </p:spPr>
      </p:sp>
      <p:sp>
        <p:nvSpPr>
          <p:cNvPr id="15" name="Text 12"/>
          <p:cNvSpPr/>
          <p:nvPr/>
        </p:nvSpPr>
        <p:spPr>
          <a:xfrm>
            <a:off x="6507328" y="3438144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משבצת פתיחה קצרה שמציגה את הנושא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40080" y="1828800"/>
            <a:ext cx="5272888" cy="2011680"/>
          </a:xfrm>
          <a:prstGeom prst="roundRect">
            <a:avLst>
              <a:gd name="adj" fmla="val 3636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099152" y="1975104"/>
            <a:ext cx="621792" cy="621792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18" name="Image 1" descr="/tmp/claude-0/-home-user-Ein-Prat-work/bfe443db-e493-5438-add8-ac2e37bc83f4/scratchpad/pptx-build/icons/glob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382" y="2124334"/>
            <a:ext cx="323332" cy="3233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68680" y="2011680"/>
            <a:ext cx="4267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5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זווית / אמצע</a:t>
            </a:r>
            <a:endParaRPr lang="en-US" sz="1650" dirty="0"/>
          </a:p>
        </p:txBody>
      </p:sp>
      <p:sp>
        <p:nvSpPr>
          <p:cNvPr id="20" name="Shape 16"/>
          <p:cNvSpPr/>
          <p:nvPr/>
        </p:nvSpPr>
        <p:spPr>
          <a:xfrm>
            <a:off x="5528920" y="2679192"/>
            <a:ext cx="73152" cy="73152"/>
          </a:xfrm>
          <a:prstGeom prst="ellipse">
            <a:avLst/>
          </a:prstGeom>
          <a:solidFill>
            <a:srgbClr val="5E7B47"/>
          </a:solidFill>
          <a:ln/>
        </p:spPr>
      </p:sp>
      <p:sp>
        <p:nvSpPr>
          <p:cNvPr id="21" name="Text 17"/>
          <p:cNvSpPr/>
          <p:nvPr/>
        </p:nvSpPr>
        <p:spPr>
          <a:xfrm>
            <a:off x="868680" y="2560320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מרצה חיצוני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5528920" y="2971800"/>
            <a:ext cx="73152" cy="73152"/>
          </a:xfrm>
          <a:prstGeom prst="ellipse">
            <a:avLst/>
          </a:prstGeom>
          <a:solidFill>
            <a:srgbClr val="5E7B47"/>
          </a:solidFill>
          <a:ln/>
        </p:spPr>
      </p:sp>
      <p:sp>
        <p:nvSpPr>
          <p:cNvPr id="23" name="Text 19"/>
          <p:cNvSpPr/>
          <p:nvPr/>
        </p:nvSpPr>
        <p:spPr>
          <a:xfrm>
            <a:off x="868680" y="2852928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ניתוח יצירה או סרט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5528920" y="3264408"/>
            <a:ext cx="73152" cy="73152"/>
          </a:xfrm>
          <a:prstGeom prst="ellipse">
            <a:avLst/>
          </a:prstGeom>
          <a:solidFill>
            <a:srgbClr val="5E7B47"/>
          </a:solidFill>
          <a:ln/>
        </p:spPr>
      </p:sp>
      <p:sp>
        <p:nvSpPr>
          <p:cNvPr id="25" name="Text 21"/>
          <p:cNvSpPr/>
          <p:nvPr/>
        </p:nvSpPr>
        <p:spPr>
          <a:xfrm>
            <a:off x="868680" y="3145536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דיון בטקסט קלאסי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5528920" y="3557016"/>
            <a:ext cx="73152" cy="73152"/>
          </a:xfrm>
          <a:prstGeom prst="ellipse">
            <a:avLst/>
          </a:prstGeom>
          <a:solidFill>
            <a:srgbClr val="5E7B47"/>
          </a:solidFill>
          <a:ln/>
        </p:spPr>
      </p:sp>
      <p:sp>
        <p:nvSpPr>
          <p:cNvPr id="27" name="Text 23"/>
          <p:cNvSpPr/>
          <p:nvPr/>
        </p:nvSpPr>
        <p:spPr>
          <a:xfrm>
            <a:off x="868680" y="3438144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מעגל שירה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6278728" y="4114800"/>
            <a:ext cx="5272888" cy="2011680"/>
          </a:xfrm>
          <a:prstGeom prst="roundRect">
            <a:avLst>
              <a:gd name="adj" fmla="val 3636"/>
            </a:avLst>
          </a:prstGeom>
          <a:solidFill>
            <a:srgbClr val="F3E9D2"/>
          </a:solidFill>
          <a:ln w="12700">
            <a:solidFill>
              <a:srgbClr val="9C7B3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10737799" y="4261104"/>
            <a:ext cx="621792" cy="621792"/>
          </a:xfrm>
          <a:prstGeom prst="ellipse">
            <a:avLst/>
          </a:prstGeom>
          <a:solidFill>
            <a:srgbClr val="9C7B34"/>
          </a:solidFill>
          <a:ln/>
        </p:spPr>
      </p:sp>
      <p:pic>
        <p:nvPicPr>
          <p:cNvPr id="30" name="Image 2" descr="/tmp/claude-0/-home-user-Ein-Prat-work/bfe443db-e493-5438-add8-ac2e37bc83f4/scratchpad/pptx-build/icons/he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7029" y="4410334"/>
            <a:ext cx="323332" cy="323332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6507328" y="4297680"/>
            <a:ext cx="4267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5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סיום — תמיד אינטראקטיבי</a:t>
            </a:r>
            <a:endParaRPr lang="en-US" sz="1650" dirty="0"/>
          </a:p>
        </p:txBody>
      </p:sp>
      <p:sp>
        <p:nvSpPr>
          <p:cNvPr id="32" name="Shape 27"/>
          <p:cNvSpPr/>
          <p:nvPr/>
        </p:nvSpPr>
        <p:spPr>
          <a:xfrm>
            <a:off x="11167567" y="4965192"/>
            <a:ext cx="73152" cy="73152"/>
          </a:xfrm>
          <a:prstGeom prst="ellipse">
            <a:avLst/>
          </a:prstGeom>
          <a:solidFill>
            <a:srgbClr val="9C7B34"/>
          </a:solidFill>
          <a:ln/>
        </p:spPr>
      </p:sp>
      <p:sp>
        <p:nvSpPr>
          <p:cNvPr id="33" name="Text 28"/>
          <p:cNvSpPr/>
          <p:nvPr/>
        </p:nvSpPr>
        <p:spPr>
          <a:xfrm>
            <a:off x="6507328" y="4846320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חבורות בטקסט</a:t>
            </a:r>
            <a:endParaRPr lang="en-US" sz="1250" dirty="0"/>
          </a:p>
        </p:txBody>
      </p:sp>
      <p:sp>
        <p:nvSpPr>
          <p:cNvPr id="34" name="Shape 29"/>
          <p:cNvSpPr/>
          <p:nvPr/>
        </p:nvSpPr>
        <p:spPr>
          <a:xfrm>
            <a:off x="11167567" y="5257800"/>
            <a:ext cx="73152" cy="73152"/>
          </a:xfrm>
          <a:prstGeom prst="ellipse">
            <a:avLst/>
          </a:prstGeom>
          <a:solidFill>
            <a:srgbClr val="9C7B34"/>
          </a:solidFill>
          <a:ln/>
        </p:spPr>
      </p:sp>
      <p:sp>
        <p:nvSpPr>
          <p:cNvPr id="35" name="Text 30"/>
          <p:cNvSpPr/>
          <p:nvPr/>
        </p:nvSpPr>
        <p:spPr>
          <a:xfrm>
            <a:off x="6507328" y="5138928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טד אישי</a:t>
            </a:r>
            <a:endParaRPr lang="en-US" sz="1250" dirty="0"/>
          </a:p>
        </p:txBody>
      </p:sp>
      <p:sp>
        <p:nvSpPr>
          <p:cNvPr id="36" name="Shape 31"/>
          <p:cNvSpPr/>
          <p:nvPr/>
        </p:nvSpPr>
        <p:spPr>
          <a:xfrm>
            <a:off x="11167567" y="5550408"/>
            <a:ext cx="73152" cy="73152"/>
          </a:xfrm>
          <a:prstGeom prst="ellipse">
            <a:avLst/>
          </a:prstGeom>
          <a:solidFill>
            <a:srgbClr val="9C7B34"/>
          </a:solidFill>
          <a:ln/>
        </p:spPr>
      </p:sp>
      <p:sp>
        <p:nvSpPr>
          <p:cNvPr id="37" name="Text 32"/>
          <p:cNvSpPr/>
          <p:nvPr/>
        </p:nvSpPr>
        <p:spPr>
          <a:xfrm>
            <a:off x="6507328" y="5431536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כתיבה מודרכת</a:t>
            </a:r>
            <a:endParaRPr lang="en-US" sz="1250" dirty="0"/>
          </a:p>
        </p:txBody>
      </p:sp>
      <p:sp>
        <p:nvSpPr>
          <p:cNvPr id="38" name="Shape 33"/>
          <p:cNvSpPr/>
          <p:nvPr/>
        </p:nvSpPr>
        <p:spPr>
          <a:xfrm>
            <a:off x="11167567" y="5843016"/>
            <a:ext cx="73152" cy="73152"/>
          </a:xfrm>
          <a:prstGeom prst="ellipse">
            <a:avLst/>
          </a:prstGeom>
          <a:solidFill>
            <a:srgbClr val="9C7B34"/>
          </a:solidFill>
          <a:ln/>
        </p:spPr>
      </p:sp>
      <p:sp>
        <p:nvSpPr>
          <p:cNvPr id="39" name="Text 34"/>
          <p:cNvSpPr/>
          <p:nvPr/>
        </p:nvSpPr>
        <p:spPr>
          <a:xfrm>
            <a:off x="6507328" y="5724144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דיבייט</a:t>
            </a:r>
            <a:endParaRPr lang="en-US" sz="1250" dirty="0"/>
          </a:p>
        </p:txBody>
      </p:sp>
      <p:sp>
        <p:nvSpPr>
          <p:cNvPr id="40" name="Shape 35"/>
          <p:cNvSpPr/>
          <p:nvPr/>
        </p:nvSpPr>
        <p:spPr>
          <a:xfrm>
            <a:off x="640080" y="4114800"/>
            <a:ext cx="5272888" cy="2011680"/>
          </a:xfrm>
          <a:prstGeom prst="roundRect">
            <a:avLst>
              <a:gd name="adj" fmla="val 3636"/>
            </a:avLst>
          </a:prstGeom>
          <a:solidFill>
            <a:srgbClr val="E4E6EF"/>
          </a:solidFill>
          <a:ln w="12700">
            <a:solidFill>
              <a:srgbClr val="5B6E8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5099152" y="4261104"/>
            <a:ext cx="621792" cy="621792"/>
          </a:xfrm>
          <a:prstGeom prst="ellipse">
            <a:avLst/>
          </a:prstGeom>
          <a:solidFill>
            <a:srgbClr val="5B6E8C"/>
          </a:solidFill>
          <a:ln/>
        </p:spPr>
      </p:sp>
      <p:pic>
        <p:nvPicPr>
          <p:cNvPr id="42" name="Image 3" descr="/tmp/claude-0/-home-user-Ein-Prat-work/bfe443db-e493-5438-add8-ac2e37bc83f4/scratchpad/pptx-build/icons/partyPopp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8382" y="4410334"/>
            <a:ext cx="323332" cy="323332"/>
          </a:xfrm>
          <a:prstGeom prst="rect">
            <a:avLst/>
          </a:prstGeom>
        </p:spPr>
      </p:pic>
      <p:sp>
        <p:nvSpPr>
          <p:cNvPr id="43" name="Text 37"/>
          <p:cNvSpPr/>
          <p:nvPr/>
        </p:nvSpPr>
        <p:spPr>
          <a:xfrm>
            <a:off x="868680" y="4297680"/>
            <a:ext cx="4267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5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תוספת מיוחדת (לא חובה)</a:t>
            </a:r>
            <a:endParaRPr lang="en-US" sz="1650" dirty="0"/>
          </a:p>
        </p:txBody>
      </p:sp>
      <p:sp>
        <p:nvSpPr>
          <p:cNvPr id="44" name="Shape 38"/>
          <p:cNvSpPr/>
          <p:nvPr/>
        </p:nvSpPr>
        <p:spPr>
          <a:xfrm>
            <a:off x="5528920" y="4965192"/>
            <a:ext cx="73152" cy="73152"/>
          </a:xfrm>
          <a:prstGeom prst="ellipse">
            <a:avLst/>
          </a:prstGeom>
          <a:solidFill>
            <a:srgbClr val="5B6E8C"/>
          </a:solidFill>
          <a:ln/>
        </p:spPr>
      </p:sp>
      <p:sp>
        <p:nvSpPr>
          <p:cNvPr id="45" name="Text 39"/>
          <p:cNvSpPr/>
          <p:nvPr/>
        </p:nvSpPr>
        <p:spPr>
          <a:xfrm>
            <a:off x="868680" y="4846320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ארוחת ערב בנושא</a:t>
            </a:r>
            <a:endParaRPr lang="en-US" sz="1250" dirty="0"/>
          </a:p>
        </p:txBody>
      </p:sp>
      <p:sp>
        <p:nvSpPr>
          <p:cNvPr id="46" name="Shape 40"/>
          <p:cNvSpPr/>
          <p:nvPr/>
        </p:nvSpPr>
        <p:spPr>
          <a:xfrm>
            <a:off x="5528920" y="5257800"/>
            <a:ext cx="73152" cy="73152"/>
          </a:xfrm>
          <a:prstGeom prst="ellipse">
            <a:avLst/>
          </a:prstGeom>
          <a:solidFill>
            <a:srgbClr val="5B6E8C"/>
          </a:solidFill>
          <a:ln/>
        </p:spPr>
      </p:sp>
      <p:sp>
        <p:nvSpPr>
          <p:cNvPr id="47" name="Text 41"/>
          <p:cNvSpPr/>
          <p:nvPr/>
        </p:nvSpPr>
        <p:spPr>
          <a:xfrm>
            <a:off x="868680" y="5138928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קישוט תמטי</a:t>
            </a:r>
            <a:endParaRPr lang="en-US" sz="1250" dirty="0"/>
          </a:p>
        </p:txBody>
      </p:sp>
      <p:sp>
        <p:nvSpPr>
          <p:cNvPr id="48" name="Shape 42"/>
          <p:cNvSpPr/>
          <p:nvPr/>
        </p:nvSpPr>
        <p:spPr>
          <a:xfrm>
            <a:off x="5528920" y="5550408"/>
            <a:ext cx="73152" cy="73152"/>
          </a:xfrm>
          <a:prstGeom prst="ellipse">
            <a:avLst/>
          </a:prstGeom>
          <a:solidFill>
            <a:srgbClr val="5B6E8C"/>
          </a:solidFill>
          <a:ln/>
        </p:spPr>
      </p:sp>
      <p:sp>
        <p:nvSpPr>
          <p:cNvPr id="49" name="Text 43"/>
          <p:cNvSpPr/>
          <p:nvPr/>
        </p:nvSpPr>
        <p:spPr>
          <a:xfrm>
            <a:off x="868680" y="5431536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שולחן זיכרון / פריטים אישיים</a:t>
            </a:r>
            <a:endParaRPr lang="en-US" sz="1250" dirty="0"/>
          </a:p>
        </p:txBody>
      </p:sp>
      <p:sp>
        <p:nvSpPr>
          <p:cNvPr id="50" name="Shape 44"/>
          <p:cNvSpPr/>
          <p:nvPr/>
        </p:nvSpPr>
        <p:spPr>
          <a:xfrm>
            <a:off x="5528920" y="5843016"/>
            <a:ext cx="73152" cy="73152"/>
          </a:xfrm>
          <a:prstGeom prst="ellipse">
            <a:avLst/>
          </a:prstGeom>
          <a:solidFill>
            <a:srgbClr val="5B6E8C"/>
          </a:solidFill>
          <a:ln/>
        </p:spPr>
      </p:sp>
      <p:sp>
        <p:nvSpPr>
          <p:cNvPr id="51" name="Text 45"/>
          <p:cNvSpPr/>
          <p:nvPr/>
        </p:nvSpPr>
        <p:spPr>
          <a:xfrm>
            <a:off x="868680" y="5724144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לימוד רשות</a:t>
            </a:r>
            <a:endParaRPr lang="en-US" sz="1250" dirty="0"/>
          </a:p>
        </p:txBody>
      </p:sp>
      <p:sp>
        <p:nvSpPr>
          <p:cNvPr id="52" name="Text 46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53" name="Text 47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התהליך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איך בונים משמר — משלב לשלב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021263" y="2098548"/>
            <a:ext cx="512064" cy="512064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5" name="Image 0" descr="/tmp/claude-0/-home-user-Ein-Prat-work/bfe443db-e493-5438-add8-ac2e37bc83f4/scratchpad/pptx-build/icons/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4159" y="2221443"/>
            <a:ext cx="266273" cy="26627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00055" y="187452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DD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6347308" y="1874520"/>
            <a:ext cx="37869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בוחרים נושא</a:t>
            </a:r>
            <a:endParaRPr lang="en-US" sz="15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לפי התקופה בשנה, התוכנית, וההשראה שלכם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11021263" y="3150108"/>
            <a:ext cx="512064" cy="512064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9" name="Image 1" descr="/tmp/claude-0/-home-user-Ein-Prat-work/bfe443db-e493-5438-add8-ac2e37bc83f4/scratchpad/pptx-build/icons/c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4159" y="3273003"/>
            <a:ext cx="266273" cy="26627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500055" y="292608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DD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6347308" y="2926080"/>
            <a:ext cx="37869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קובעים לוז</a:t>
            </a:r>
            <a:endParaRPr lang="en-US" sz="15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השלד נבנה לבד כשסוגרים נושא; משנים משך — והשעות זזות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11021263" y="4201668"/>
            <a:ext cx="512064" cy="512064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13" name="Image 2" descr="/tmp/claude-0/-home-user-Ein-Prat-work/bfe443db-e493-5438-add8-ac2e37bc83f4/scratchpad/pptx-build/icons/mi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4159" y="4324563"/>
            <a:ext cx="266273" cy="26627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500055" y="397764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DD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6347308" y="3977640"/>
            <a:ext cx="37869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מחפשים מרצים</a:t>
            </a:r>
            <a:endParaRPr lang="en-US" sz="15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במאגר המשותף ובסריקת הרשת; פונים וסוגרים — הכל באפליקציה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11021263" y="5253228"/>
            <a:ext cx="512064" cy="512064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17" name="Image 3" descr="/tmp/claude-0/-home-user-Ein-Prat-work/bfe443db-e493-5438-add8-ac2e37bc83f4/scratchpad/pptx-build/icons/he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4159" y="5376123"/>
            <a:ext cx="266273" cy="26627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500055" y="502920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DD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19" name="Text 13"/>
          <p:cNvSpPr/>
          <p:nvPr/>
        </p:nvSpPr>
        <p:spPr>
          <a:xfrm>
            <a:off x="6347308" y="5029200"/>
            <a:ext cx="37869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בונים סיום</a:t>
            </a:r>
            <a:endParaRPr lang="en-US" sz="15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חבורות / טד / כתיבה / דיבייט — תמיד אינטראקטיבי. זה המקום שלכם להתבטא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5314036" y="2098548"/>
            <a:ext cx="512064" cy="512064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21" name="Image 4" descr="/tmp/claude-0/-home-user-Ein-Prat-work/bfe443db-e493-5438-add8-ac2e37bc83f4/scratchpad/pptx-build/icons/scisso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6931" y="2221443"/>
            <a:ext cx="266273" cy="266273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4792828" y="187452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DD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900" dirty="0"/>
          </a:p>
        </p:txBody>
      </p:sp>
      <p:sp>
        <p:nvSpPr>
          <p:cNvPr id="23" name="Text 16"/>
          <p:cNvSpPr/>
          <p:nvPr/>
        </p:nvSpPr>
        <p:spPr>
          <a:xfrm>
            <a:off x="640080" y="1874520"/>
            <a:ext cx="37869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מתכננים תפאורה וכיבוד</a:t>
            </a:r>
            <a:endParaRPr lang="en-US" sz="15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ראו את שני הסליידים הבאים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5314036" y="3150108"/>
            <a:ext cx="512064" cy="512064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25" name="Image 5" descr="/tmp/claude-0/-home-user-Ein-Prat-work/bfe443db-e493-5438-add8-ac2e37bc83f4/scratchpad/pptx-build/icons/edi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6931" y="3273003"/>
            <a:ext cx="266273" cy="266273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4792828" y="292608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DD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900" dirty="0"/>
          </a:p>
        </p:txBody>
      </p:sp>
      <p:sp>
        <p:nvSpPr>
          <p:cNvPr id="27" name="Text 19"/>
          <p:cNvSpPr/>
          <p:nvPr/>
        </p:nvSpPr>
        <p:spPr>
          <a:xfrm>
            <a:off x="640080" y="2926080"/>
            <a:ext cx="37869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מעצבים ומפיצים הזמנה</a:t>
            </a:r>
            <a:endParaRPr lang="en-US" sz="15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+ תמונה, או רקע קיים — ומעלים את התמונה לאפליקציה</a:t>
            </a:r>
            <a:endParaRPr lang="en-US" sz="1500" dirty="0"/>
          </a:p>
        </p:txBody>
      </p:sp>
      <p:sp>
        <p:nvSpPr>
          <p:cNvPr id="28" name="Shape 20"/>
          <p:cNvSpPr/>
          <p:nvPr/>
        </p:nvSpPr>
        <p:spPr>
          <a:xfrm>
            <a:off x="5314036" y="4201668"/>
            <a:ext cx="512064" cy="512064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29" name="Image 6" descr="/tmp/claude-0/-home-user-Ein-Prat-work/bfe443db-e493-5438-add8-ac2e37bc83f4/scratchpad/pptx-build/icons/sta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36931" y="4324563"/>
            <a:ext cx="266273" cy="266273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4792828" y="397764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DD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900" dirty="0"/>
          </a:p>
        </p:txBody>
      </p:sp>
      <p:sp>
        <p:nvSpPr>
          <p:cNvPr id="31" name="Text 22"/>
          <p:cNvSpPr/>
          <p:nvPr/>
        </p:nvSpPr>
        <p:spPr>
          <a:xfrm>
            <a:off x="640080" y="3977640"/>
            <a:ext cx="37869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מריצים את הלילה</a:t>
            </a:r>
            <a:endParaRPr lang="en-US" sz="15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ואז — משוב באפליקציה, והוא סוגר את המשימה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33" name="Text 24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בחירת כיוון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משמר פנימי או משמר חיצוני?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278728" y="1874520"/>
            <a:ext cx="5272888" cy="3017520"/>
          </a:xfrm>
          <a:prstGeom prst="roundRect">
            <a:avLst>
              <a:gd name="adj" fmla="val 2424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49411" y="2194560"/>
            <a:ext cx="731520" cy="731520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6" name="Image 0" descr="/tmp/claude-0/-home-user-Ein-Prat-work/bfe443db-e493-5438-add8-ac2e37bc83f4/scratchpad/pptx-build/icon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24976" y="2370125"/>
            <a:ext cx="380390" cy="3803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278728" y="310896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E7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משמר פנימי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6598768" y="3657600"/>
            <a:ext cx="46328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לרוב מרצי בית, על נושא שהוא אינהרנטי לציר הלימודי.</a:t>
            </a:r>
            <a:endParaRPr lang="en-US" sz="12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למשל: אריסטו עולה בקורס פילוסופיה ← משמר שלם על הגותו.</a:t>
            </a:r>
            <a:endParaRPr lang="en-US" sz="12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בובר או תור הזהב בספרד עולים במחשבת ישראל ← נכנסים לעומק, עם ההקשר וההוגים של התקופה.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1874520"/>
            <a:ext cx="5272888" cy="3017520"/>
          </a:xfrm>
          <a:prstGeom prst="roundRect">
            <a:avLst>
              <a:gd name="adj" fmla="val 2424"/>
            </a:avLst>
          </a:prstGeom>
          <a:solidFill>
            <a:srgbClr val="DEE9EF"/>
          </a:solidFill>
          <a:ln w="12700">
            <a:solidFill>
              <a:srgbClr val="3F648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910764" y="2194560"/>
            <a:ext cx="731520" cy="731520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11" name="Image 1" descr="/tmp/claude-0/-home-user-Ein-Prat-work/bfe443db-e493-5438-add8-ac2e37bc83f4/scratchpad/pptx-build/icons/glob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329" y="2370125"/>
            <a:ext cx="380390" cy="38039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0080" y="310896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F64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משמר חיצוני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960120" y="3657600"/>
            <a:ext cx="46328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נושא שאינו בהכרח חלק מתכנית הלימודים היומיומית —</a:t>
            </a:r>
            <a:endParaRPr lang="en-US" sz="12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קולנוע, אמריקה ותרבות המערב, חינוך, מערכות המדינה בישראל.</a:t>
            </a:r>
            <a:endParaRPr lang="en-US" sz="12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לרוב כולל פחות מרצי בית ויותר אנשי מקצוע מבחוץ.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5166360"/>
            <a:ext cx="10911535" cy="868680"/>
          </a:xfrm>
          <a:prstGeom prst="roundRect">
            <a:avLst>
              <a:gd name="adj" fmla="val 8421"/>
            </a:avLst>
          </a:prstGeom>
          <a:solidFill>
            <a:srgbClr val="211D1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14400" y="5257800"/>
            <a:ext cx="10362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זו הצעה בלבד, לא חובה!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914400" y="5550408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2EA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לגמרי להביא מרצה חיצוני לנושא פנימי, או מרצה בית לנושא חיצוני. המטרה היא העמקה בתכנים — לא הקפדה נוקשה על הקטגוריה.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השנה שלכם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כל 21 המשמרים — מי אחראי ומתי (חלק 1)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46120"/>
                <a:gridCol w="1417320"/>
                <a:gridCol w="2514600"/>
                <a:gridCol w="1600200"/>
                <a:gridCol w="914400"/>
                <a:gridCol w="1216152"/>
              </a:tblGrid>
              <a:tr h="3924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הערות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אחראים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תאריך עברי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לועזי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סוג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i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משמר בוגרים — נבנה על ידי הצוות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צוות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כ״א אלול תשפ״ו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i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נבנה על ידי הצוות, כדוגמה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צוות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ו׳ תשרי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17.9.2026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יותם ספיר + רותם דרור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י״ג תשרי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24.9.2026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זואה כהן + כליל בלאוקופף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כ״ז תשרי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אלה מאיר + טליה קור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ד׳ חשון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15.10.2026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איתי בן מנחם + רותם דרור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י״א חשון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22.10.2026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יותם ספיר + רוני פרנקל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י״ח חשון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29.10.2026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אלה מאיר + כליל בלאוקופף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כ״ה חשון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5.11.2026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איתי בן מנחם + זואה כהן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ב׳ כסלו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12.11.2026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רוני פרנקל + רותם דרור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ט׳ כסלו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19.11.2026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i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שבוע אמצע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טליה קור + כליל בלאוקופף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ט״ז כסלו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26.11.2026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השנה שלכם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כל 21 המשמרים — מי אחראי ומתי (חלק 2)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46120"/>
                <a:gridCol w="1417320"/>
                <a:gridCol w="2514600"/>
                <a:gridCol w="1600200"/>
                <a:gridCol w="914400"/>
                <a:gridCol w="1216152"/>
              </a:tblGrid>
              <a:tr h="4281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הערות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אחראים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תאריך עברי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לועזי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סוג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איתי בן מנחם + יותם ספיר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כ״ג כסלו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i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נר ו׳ חנוכה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אלה מאיר + זואה כהן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ל׳ כסלו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10.12.2026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כליל בלאוקופף + רוני פרנקל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ז׳ טבת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17.12.2026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i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לפני שבת בוגרים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איתי בן מנחם + טליה קור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י״ד טבת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24.12.2026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אלה מאיר + יותם ספיר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כ״ח טבת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7.1.2027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זואה כהן + רותם דרור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ו׳ שבט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14.1.2027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i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ט״ו בשבט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איתי בן מנחם + כליל בלאוקופף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י״ג שבט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21.1.2027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טליה קור + רוני פרנקל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כ׳ שבט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28.1.2027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אלה מאיר + רותם דרור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כ״ז שבט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4.2.2027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i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המשמר האחרון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זואה כהן + יותם ספיר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ד׳ אדר א׳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11.2.2027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 המרכזי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ניהול המשמר — המסך של כל ערב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021263" y="228142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5" name="Image 0" descr="/tmp/claude-0/-home-user-Ein-Prat-work/bfe443db-e493-5438-add8-ac2e37bc83f4/scratchpad/pptx-build/icons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4159" y="2404323"/>
            <a:ext cx="266273" cy="26627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47308" y="196596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הערב</a:t>
            </a:r>
            <a:endParaRPr lang="en-US" sz="17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משבצות, הפסקות, חבורות — השעות נגזרות מהמשכים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11021263" y="3515868"/>
            <a:ext cx="512064" cy="512064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8" name="Image 1" descr="/tmp/claude-0/-home-user-Ein-Prat-work/bfe443db-e493-5438-add8-ac2e37bc83f4/scratchpad/pptx-build/icons/mi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4159" y="3638763"/>
            <a:ext cx="266273" cy="26627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47308" y="320040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מרצים</a:t>
            </a:r>
            <a:endParaRPr lang="en-US" sz="17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מועמדים לכל שיעור, סוגרים במקום, ומעלים דף מקורות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11021263" y="475030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11" name="Image 2" descr="/tmp/claude-0/-home-user-Ein-Prat-work/bfe443db-e493-5438-add8-ac2e37bc83f4/scratchpad/pptx-build/icons/fileTex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4159" y="4873203"/>
            <a:ext cx="266273" cy="26627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347308" y="443484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חבורות</a:t>
            </a:r>
            <a:endParaRPr lang="en-US" sz="17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מעבירים, חללים ודפי מקורות — לכל סבב בנפרד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5314036" y="2281428"/>
            <a:ext cx="512064" cy="512064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14" name="Image 3" descr="/tmp/claude-0/-home-user-Ein-Prat-work/bfe443db-e493-5438-add8-ac2e37bc83f4/scratchpad/pptx-build/icons/scisso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6931" y="2404323"/>
            <a:ext cx="266273" cy="266273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40080" y="196596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לוגיסטיקה</a:t>
            </a:r>
            <a:endParaRPr lang="en-US" sz="17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כיבוד, חלוקת חללים, וההזמנה — כתמונה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5314036" y="351586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17" name="Image 4" descr="/tmp/claude-0/-home-user-Ein-Prat-work/bfe443db-e493-5438-add8-ac2e37bc83f4/scratchpad/pptx-build/icons/check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6931" y="3638763"/>
            <a:ext cx="266273" cy="266273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40080" y="320040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משימות</a:t>
            </a:r>
            <a:endParaRPr lang="en-US" sz="17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לפי שלבים; משימות המקטע נסגרות לבד כשהעבודה נראית</a:t>
            </a:r>
            <a:endParaRPr lang="en-US" sz="1700" dirty="0"/>
          </a:p>
        </p:txBody>
      </p:sp>
      <p:sp>
        <p:nvSpPr>
          <p:cNvPr id="19" name="Shape 12"/>
          <p:cNvSpPr/>
          <p:nvPr/>
        </p:nvSpPr>
        <p:spPr>
          <a:xfrm>
            <a:off x="640080" y="5897880"/>
            <a:ext cx="10911535" cy="594360"/>
          </a:xfrm>
          <a:prstGeom prst="roundRect">
            <a:avLst>
              <a:gd name="adj" fmla="val 12308"/>
            </a:avLst>
          </a:prstGeom>
          <a:solidFill>
            <a:srgbClr val="F5F1E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20" name="Text 13"/>
          <p:cNvSpPr/>
          <p:nvPr/>
        </p:nvSpPr>
        <p:spPr>
          <a:xfrm>
            <a:off x="822960" y="589788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משמר כבר קיים שם — 21 הערבים, המשימות והתאריכים המומלצים. אתם רק ממלאים.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22" name="Text 15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מרצים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לפני שפונים — בדקו במאגר המרצים באפליקציה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202875" y="2263140"/>
            <a:ext cx="868680" cy="868680"/>
          </a:xfrm>
          <a:prstGeom prst="ellipse">
            <a:avLst/>
          </a:prstGeom>
          <a:solidFill>
            <a:srgbClr val="9C917A"/>
          </a:solidFill>
          <a:ln/>
        </p:spPr>
      </p:sp>
      <p:pic>
        <p:nvPicPr>
          <p:cNvPr id="5" name="Image 0" descr="/tmp/claude-0/-home-user-Ein-Prat-work/bfe443db-e493-5438-add8-ac2e37bc83f4/scratchpad/pptx-build/icons/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1358" y="2471623"/>
            <a:ext cx="451714" cy="45171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448495" y="3246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פנינו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280931" y="2468880"/>
            <a:ext cx="4418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4DD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7932191" y="2263140"/>
            <a:ext cx="868680" cy="868680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9" name="Image 1" descr="/tmp/claude-0/-home-user-Ein-Prat-work/bfe443db-e493-5438-add8-ac2e37bc83f4/scratchpad/pptx-build/icons/s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0675" y="2471623"/>
            <a:ext cx="451714" cy="45171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177811" y="3246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נשלחה פנייה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7010248" y="2468880"/>
            <a:ext cx="4418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4DD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661508" y="2263140"/>
            <a:ext cx="868680" cy="868680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13" name="Image 2" descr="/tmp/claude-0/-home-user-Ein-Prat-work/bfe443db-e493-5438-add8-ac2e37bc83f4/scratchpad/pptx-build/icons/clock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9991" y="2471623"/>
            <a:ext cx="451714" cy="45171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907128" y="3246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סגור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4739564" y="2468880"/>
            <a:ext cx="4418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4DD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3390824" y="2263140"/>
            <a:ext cx="868680" cy="868680"/>
          </a:xfrm>
          <a:prstGeom prst="ellipse">
            <a:avLst/>
          </a:prstGeom>
          <a:solidFill>
            <a:srgbClr val="B0554A"/>
          </a:solidFill>
          <a:ln/>
        </p:spPr>
      </p:sp>
      <p:pic>
        <p:nvPicPr>
          <p:cNvPr id="17" name="Image 3" descr="/tmp/claude-0/-home-user-Ein-Prat-work/bfe443db-e493-5438-add8-ac2e37bc83f4/scratchpad/pptx-build/icons/check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9307" y="2471623"/>
            <a:ext cx="451714" cy="45171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2636444" y="3246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יכול/ה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2468880" y="2468880"/>
            <a:ext cx="4418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4DD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1120140" y="2263140"/>
            <a:ext cx="868680" cy="868680"/>
          </a:xfrm>
          <a:prstGeom prst="ellipse">
            <a:avLst/>
          </a:prstGeom>
          <a:solidFill>
            <a:srgbClr val="9C7B34"/>
          </a:solidFill>
          <a:ln/>
        </p:spPr>
      </p:sp>
      <p:pic>
        <p:nvPicPr>
          <p:cNvPr id="21" name="Image 4" descr="/tmp/claude-0/-home-user-Ein-Prat-work/bfe443db-e493-5438-add8-ac2e37bc83f4/scratchpad/pptx-build/icons/x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8623" y="2471623"/>
            <a:ext cx="451714" cy="45171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65760" y="3246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בתנאי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640080" y="4069080"/>
            <a:ext cx="10911535" cy="1371600"/>
          </a:xfrm>
          <a:prstGeom prst="roundRect">
            <a:avLst>
              <a:gd name="adj" fmla="val 5333"/>
            </a:avLst>
          </a:prstGeom>
          <a:solidFill>
            <a:srgbClr val="211D1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982980" y="4411980"/>
            <a:ext cx="685800" cy="685800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25" name="Image 5" descr="/tmp/claude-0/-home-user-Ein-Prat-work/bfe443db-e493-5438-add8-ac2e37bc83f4/scratchpad/pptx-build/icons/user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7572" y="4576572"/>
            <a:ext cx="356616" cy="356616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2011680" y="4069080"/>
            <a:ext cx="9174175" cy="137160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9A9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מאגר המרצים — מסך אחד לכל הצוותים, באפליקציה
</a:t>
            </a:r>
            <a:endParaRPr lang="en-US" sz="16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F2EA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פנייה — גם סירוב — נרשמת שם עם המשמר שפנה, ואם צוות אחר כבר פנה לאדם, האפליקציה מזהירה לפני שפונים שוב. ולידו «חיפוש מרצים»: סורק את הרשת ומציע שמות לאימות — לעולם לא פרטי קשר; אותם מוצאים דרך העמוד המוסדי.</a:t>
            </a:r>
            <a:endParaRPr lang="en-US" sz="1600" dirty="0"/>
          </a:p>
        </p:txBody>
      </p:sp>
      <p:sp>
        <p:nvSpPr>
          <p:cNvPr id="27" name="Text 19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28" name="Text 20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הפרטים הקטנים · 1/2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קישוט ואווירה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029471" y="196596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39199" y="196596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קרפ אדום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33008" y="196596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42736" y="196596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בריסטולים צבעוניים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36544" y="196596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6272" y="196596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נרות זכרון וענפי זית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196596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196596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נייר רץ (דפים גדולים)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029471" y="329184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39199" y="329184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גואש ומכחולים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33008" y="329184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2736" y="329184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אותיות וסמלים לפי הנושא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436544" y="329184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46272" y="329184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שולחן עם פריטים אישיים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329184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329184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תמונות וציטוטים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47548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תמיד כדאי שהקישוט יתקשר לנושא הספציפי של הלילה — לא סתם "יפה".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הפרטים הקטנים · 2/2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כיבוד וארוחות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278728" y="1828800"/>
            <a:ext cx="5272888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26551" y="2217420"/>
            <a:ext cx="777240" cy="777240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6" name="Image 0" descr="/tmp/claude-0/-home-user-Ein-Prat-work/bfe443db-e493-5438-add8-ac2e37bc83f4/scratchpad/pptx-build/icons/cupc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3089" y="240395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278728" y="320040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כיבוד קבוע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598768" y="3794760"/>
            <a:ext cx="4632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בכל הפסקה — משהו קטן לאכול ולשתות. זה נראה מובן מאליו, אבל מישהו צריך לזכור לקנות אותו.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40080" y="1828800"/>
            <a:ext cx="5272888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887904" y="2217420"/>
            <a:ext cx="777240" cy="777240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11" name="Image 1" descr="/tmp/claude-0/-home-user-Ein-Prat-work/bfe443db-e493-5438-add8-ac2e37bc83f4/scratchpad/pptx-build/icons/partyPopp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4441" y="240395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0080" y="320040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לפעמים — ארוחת ערב בנושא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960120" y="3794760"/>
            <a:ext cx="4632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אמיתית: משמר פילוסופיית המזרח נחתם בארוחת ערב בנושא "פוקי בול". זה לא חובה, אבל כשזה מתאים — זה עושה המון.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40080" y="5623560"/>
            <a:ext cx="10911535" cy="502920"/>
          </a:xfrm>
          <a:prstGeom prst="roundRect">
            <a:avLst>
              <a:gd name="adj" fmla="val 14545"/>
            </a:avLst>
          </a:prstGeom>
          <a:solidFill>
            <a:srgbClr val="211D1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2960" y="562356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F2EA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מישהו אחד אחראי על רשימת הקניות — כתוב את זה בקובץ העבודה, לא רק בראש.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המלצה — לא חוק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מתי כדאי לסגור מה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768535" y="2286000"/>
            <a:ext cx="1188720" cy="1188720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5" name="Image 0" descr="/tmp/claude-0/-home-user-Ein-Prat-work/bfe443db-e493-5438-add8-ac2e37bc83f4/scratchpad/pptx-build/icons/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3828" y="2571293"/>
            <a:ext cx="618134" cy="61813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99855" y="3657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 3 שבועות לפני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899855" y="4069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הנושא סגור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706917" y="2651760"/>
            <a:ext cx="467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4DD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6923837" y="2286000"/>
            <a:ext cx="1188720" cy="1188720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10" name="Image 1" descr="/tmp/claude-0/-home-user-Ein-Prat-work/bfe443db-e493-5438-add8-ac2e37bc83f4/scratchpad/pptx-build/icons/mi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9130" y="2571293"/>
            <a:ext cx="618134" cy="61813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055157" y="3657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 שבועיים לפני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055157" y="4069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מרצים סגורים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5862218" y="2651760"/>
            <a:ext cx="467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4DD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600" dirty="0"/>
          </a:p>
        </p:txBody>
      </p:sp>
      <p:sp>
        <p:nvSpPr>
          <p:cNvPr id="14" name="Shape 10"/>
          <p:cNvSpPr/>
          <p:nvPr/>
        </p:nvSpPr>
        <p:spPr>
          <a:xfrm>
            <a:off x="4079138" y="2286000"/>
            <a:ext cx="1188720" cy="1188720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15" name="Image 2" descr="/tmp/claude-0/-home-user-Ein-Prat-work/bfe443db-e493-5438-add8-ac2e37bc83f4/scratchpad/pptx-build/icons/edi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4431" y="2571293"/>
            <a:ext cx="618134" cy="61813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210458" y="3657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 שבוע לפני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3210458" y="4069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קישוט + הזמנה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3017520" y="2651760"/>
            <a:ext cx="467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4DD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600" dirty="0"/>
          </a:p>
        </p:txBody>
      </p:sp>
      <p:sp>
        <p:nvSpPr>
          <p:cNvPr id="19" name="Shape 14"/>
          <p:cNvSpPr/>
          <p:nvPr/>
        </p:nvSpPr>
        <p:spPr>
          <a:xfrm>
            <a:off x="1234440" y="2286000"/>
            <a:ext cx="1188720" cy="1188720"/>
          </a:xfrm>
          <a:prstGeom prst="ellipse">
            <a:avLst/>
          </a:prstGeom>
          <a:solidFill>
            <a:srgbClr val="9C7B34"/>
          </a:solidFill>
          <a:ln/>
        </p:spPr>
      </p:sp>
      <p:pic>
        <p:nvPicPr>
          <p:cNvPr id="20" name="Image 3" descr="/tmp/claude-0/-home-user-Ein-Prat-work/bfe443db-e493-5438-add8-ac2e37bc83f4/scratchpad/pptx-build/icons/st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9733" y="2571293"/>
            <a:ext cx="618134" cy="61813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365760" y="3657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ביום המשמר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365760" y="4069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מריצים</a:t>
            </a:r>
            <a:endParaRPr lang="en-US" sz="2000" dirty="0"/>
          </a:p>
        </p:txBody>
      </p:sp>
      <p:sp>
        <p:nvSpPr>
          <p:cNvPr id="23" name="Shape 17"/>
          <p:cNvSpPr/>
          <p:nvPr/>
        </p:nvSpPr>
        <p:spPr>
          <a:xfrm>
            <a:off x="640080" y="521208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5F1E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914400" y="521208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האפליקציה מחשבת לכל משימה תאריך מומלץ מתאריך המשמר — שלושה שבועות לנושא, שבועיים למרצים, שבוע ללוגיסטיקה — ומסמנת בעדינות מה עבר. המלצה, לא חוק.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1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200400"/>
            <a:ext cx="6400800" cy="6400800"/>
          </a:xfrm>
          <a:prstGeom prst="ellipse">
            <a:avLst/>
          </a:prstGeom>
          <a:solidFill>
            <a:srgbClr val="2B2519"/>
          </a:solidFill>
          <a:ln/>
        </p:spPr>
      </p:sp>
      <p:sp>
        <p:nvSpPr>
          <p:cNvPr id="3" name="Shape 1"/>
          <p:cNvSpPr/>
          <p:nvPr/>
        </p:nvSpPr>
        <p:spPr>
          <a:xfrm>
            <a:off x="5501488" y="1143000"/>
            <a:ext cx="1188720" cy="1188720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4" name="Image 0" descr="/tmp/claude-0/-home-user-Ein-Prat-work/bfe443db-e493-5438-add8-ac2e37bc83f4/scratchpad/pptx-build/icons/aw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6780" y="1428293"/>
            <a:ext cx="618134" cy="61813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606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9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שמתחילים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9718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המשמר הראשון (17.9) נבנה עבורכם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2103120" y="3977640"/>
            <a:ext cx="79854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9CF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כדי שיהיה לכם זמן להתארגן ולהיכנס לעניינים, ובמקביל שתהיה לכם דוגמה ברמה גבוהה ללמוד ממנה — המשמר הראשון אחרי משמר בוגרים ייבנה בשבילכם. תראו קובץ עבודה מלא, מקצה לקצה — ואז זה התור שלכם.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11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6400800" cy="6400800"/>
          </a:xfrm>
          <a:prstGeom prst="ellipse">
            <a:avLst/>
          </a:prstGeom>
          <a:solidFill>
            <a:srgbClr val="2B2519"/>
          </a:solidFill>
          <a:ln/>
        </p:spPr>
      </p:sp>
      <p:pic>
        <p:nvPicPr>
          <p:cNvPr id="3" name="Image 0" descr="/tmp/claude-0/-home-user-Ein-Prat-work/bfe443db-e493-5438-add8-ac2e37bc83f4/scratchpad/pptx-build/logo-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0048" y="196596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בהצלחה!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640080" y="45262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2EA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בדרך? פנו לצוות בכל שלב — וכל מה שנסגר, נסגר באפליקציה.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217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9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מדרשת עין פרת — האקדמיה למנהיגות חברתית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האפליקציה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איך נכנסים ומה רואים</a:t>
            </a:r>
            <a:endParaRPr lang="en-US" sz="3200" dirty="0"/>
          </a:p>
        </p:txBody>
      </p:sp>
      <p:sp>
        <p:nvSpPr>
          <p:cNvPr id="301" name="Text App"/>
          <p:cNvSpPr/>
          <p:nvPr/>
        </p:nvSpPr>
        <p:spPr>
          <a:xfrm>
            <a:off x="6583680" y="1874519"/>
            <a:ext cx="4965192" cy="3749039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algn="r" rtl="1" indent="0" marL="0">
              <a:spcAft>
                <a:spcPts val="900"/>
              </a:spcAft>
              <a:buNone/>
            </a:pPr>
            <a:r>
              <a:rPr lang="he-IL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נכנסים עם השם המלא</a:t>
            </a:r>
            <a:r>
              <a:rPr lang="he-IL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כפי שהוא מופיע בשיבוץ. בלי סיסמה, וגם מהטלפון.</a:t>
            </a:r>
            <a:endParaRPr lang="he-IL" sz="1250" dirty="0"/>
          </a:p>
          <a:p>
            <a:pPr algn="r" rtl="1" indent="0" marL="0">
              <a:spcAft>
                <a:spcPts val="900"/>
              </a:spcAft>
              <a:buNone/>
            </a:pPr>
            <a:r>
              <a:rPr lang="he-IL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מסך הבית</a:t>
            </a:r>
            <a:r>
              <a:rPr lang="he-IL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המשמר הבא שלכם, השלב שבו הוא עומד, ורק המשימות של השלב הזה. «פתח» מוביל למקום שבו סוגרים אותן.</a:t>
            </a:r>
            <a:endParaRPr lang="he-IL" sz="1250" dirty="0"/>
          </a:p>
          <a:p>
            <a:pPr algn="r" rtl="1" indent="0" marL="0">
              <a:spcAft>
                <a:spcPts val="900"/>
              </a:spcAft>
              <a:buNone/>
            </a:pPr>
            <a:r>
              <a:rPr lang="he-IL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שאר המשמרים שלכם</a:t>
            </a:r>
            <a:r>
              <a:rPr lang="he-IL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בתור, לפי תאריך. לחיצה על כרטיס פותחת את ניהול המשמר שלו.</a:t>
            </a:r>
            <a:endParaRPr lang="he-IL" sz="1250" dirty="0"/>
          </a:p>
          <a:p>
            <a:pPr algn="r" rtl="1" indent="0" marL="0">
              <a:buNone/>
            </a:pPr>
            <a:r>
              <a:rPr lang="he-IL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ארבעה מסכים</a:t>
            </a:r>
            <a:r>
              <a:rPr lang="he-IL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מסך הבית · ניהול המשמר · מאגר המרצים · חיפוש מרצים.</a:t>
            </a:r>
            <a:endParaRPr lang="he-IL" sz="1250" dirty="0"/>
          </a:p>
        </p:txBody>
      </p:sp>
      <p:pic>
        <p:nvPicPr>
          <p:cNvPr id="302" name="Screenshot" descr="מסך הבית של חניך באפליקציה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1874519"/>
            <a:ext cx="5577840" cy="3585754"/>
          </a:xfrm>
          <a:prstGeom prst="rect">
            <a:avLst/>
          </a:prstGeom>
          <a:ln w="9525">
            <a:solidFill>
              <a:srgbClr val="E4DDCB"/>
            </a:solidFill>
          </a:ln>
        </p:spPr>
      </p:pic>
      <p:sp>
        <p:nvSpPr>
          <p:cNvPr id="19" name="Shape 12"/>
          <p:cNvSpPr/>
          <p:nvPr/>
        </p:nvSpPr>
        <p:spPr>
          <a:xfrm>
            <a:off x="640080" y="5897880"/>
            <a:ext cx="10911535" cy="594360"/>
          </a:xfrm>
          <a:prstGeom prst="roundRect">
            <a:avLst>
              <a:gd name="adj" fmla="val 12308"/>
            </a:avLst>
          </a:prstGeom>
          <a:solidFill>
            <a:srgbClr val="F5F1E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20" name="Text 13"/>
          <p:cNvSpPr/>
          <p:nvPr/>
        </p:nvSpPr>
        <p:spPr>
          <a:xfrm>
            <a:off x="822960" y="589788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עובד גם מהטלפון. כל מה שנסגר — נסגר שם, ופעם אחת.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22" name="Text 15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2026-08-19T20:38:18Z</dcterms:created>
  <dcterms:modified xsi:type="dcterms:W3CDTF">2026-08-19T20:38:18Z</dcterms:modified>
</cp:coreProperties>
</file>